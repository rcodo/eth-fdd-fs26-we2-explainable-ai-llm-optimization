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19" r:id="rId4"/>
    <p:sldId id="320" r:id="rId5"/>
    <p:sldId id="258" r:id="rId6"/>
    <p:sldId id="259" r:id="rId7"/>
    <p:sldId id="260" r:id="rId8"/>
    <p:sldId id="261" r:id="rId9"/>
    <p:sldId id="265" r:id="rId10"/>
    <p:sldId id="266" r:id="rId11"/>
    <p:sldId id="321" r:id="rId12"/>
  </p:sldIdLst>
  <p:sldSz cx="12179300" cy="6858000"/>
  <p:notesSz cx="12179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950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3447" y="2125980"/>
            <a:ext cx="1035240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1A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E6E6E"/>
                </a:solidFill>
                <a:latin typeface="Arial"/>
                <a:cs typeface="Arial"/>
              </a:defRPr>
            </a:lvl1pPr>
          </a:lstStyle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>
                <a:solidFill>
                  <a:srgbClr val="A5C3E8"/>
                </a:solidFill>
              </a:rPr>
              <a:t>‹#›</a:t>
            </a:fld>
            <a:endParaRPr spc="-50" dirty="0">
              <a:solidFill>
                <a:srgbClr val="A5C3E8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1A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E6E6E"/>
                </a:solidFill>
                <a:latin typeface="Arial"/>
                <a:cs typeface="Arial"/>
              </a:defRPr>
            </a:lvl1pPr>
          </a:lstStyle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>
                <a:solidFill>
                  <a:srgbClr val="A5C3E8"/>
                </a:solidFill>
              </a:rPr>
              <a:t>‹#›</a:t>
            </a:fld>
            <a:endParaRPr spc="-50" dirty="0">
              <a:solidFill>
                <a:srgbClr val="A5C3E8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1A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2339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E6E6E"/>
                </a:solidFill>
                <a:latin typeface="Arial"/>
                <a:cs typeface="Arial"/>
              </a:defRPr>
            </a:lvl1pPr>
          </a:lstStyle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>
                <a:solidFill>
                  <a:srgbClr val="A5C3E8"/>
                </a:solidFill>
              </a:rPr>
              <a:t>‹#›</a:t>
            </a:fld>
            <a:endParaRPr spc="-50" dirty="0">
              <a:solidFill>
                <a:srgbClr val="A5C3E8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858000"/>
          </a:xfrm>
          <a:custGeom>
            <a:avLst/>
            <a:gdLst/>
            <a:ahLst/>
            <a:cxnLst/>
            <a:rect l="l" t="t" r="r" b="b"/>
            <a:pathLst>
              <a:path w="12179300" h="6858000">
                <a:moveTo>
                  <a:pt x="12179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7999"/>
                </a:lnTo>
                <a:close/>
              </a:path>
            </a:pathLst>
          </a:custGeom>
          <a:solidFill>
            <a:srgbClr val="215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1A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E6E6E"/>
                </a:solidFill>
                <a:latin typeface="Arial"/>
                <a:cs typeface="Arial"/>
              </a:defRPr>
            </a:lvl1pPr>
          </a:lstStyle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>
                <a:solidFill>
                  <a:srgbClr val="A5C3E8"/>
                </a:solidFill>
              </a:rPr>
              <a:t>‹#›</a:t>
            </a:fld>
            <a:endParaRPr spc="-50" dirty="0">
              <a:solidFill>
                <a:srgbClr val="A5C3E8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816" y="6507086"/>
            <a:ext cx="984433" cy="1619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E6E6E"/>
                </a:solidFill>
                <a:latin typeface="Arial"/>
                <a:cs typeface="Arial"/>
              </a:defRPr>
            </a:lvl1pPr>
          </a:lstStyle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>
                <a:solidFill>
                  <a:srgbClr val="A5C3E8"/>
                </a:solidFill>
              </a:rPr>
              <a:t>‹#›</a:t>
            </a:fld>
            <a:endParaRPr spc="-50" dirty="0">
              <a:solidFill>
                <a:srgbClr val="A5C3E8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400870"/>
            <a:ext cx="8077200" cy="467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1A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048" y="1456687"/>
            <a:ext cx="10787380" cy="2302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0962" y="6377940"/>
            <a:ext cx="389737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84779" y="6472000"/>
            <a:ext cx="216603" cy="2167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E6E6E"/>
                </a:solidFill>
                <a:latin typeface="Arial"/>
                <a:cs typeface="Arial"/>
              </a:defRPr>
            </a:lvl1pPr>
          </a:lstStyle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>
                <a:solidFill>
                  <a:srgbClr val="A5C3E8"/>
                </a:solidFill>
              </a:rPr>
              <a:t>‹#›</a:t>
            </a:fld>
            <a:endParaRPr spc="-50" dirty="0">
              <a:solidFill>
                <a:srgbClr val="A5C3E8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329184"/>
            <a:ext cx="1600196" cy="2651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88511" y="275081"/>
            <a:ext cx="1929130" cy="3225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401955">
              <a:lnSpc>
                <a:spcPct val="105000"/>
              </a:lnSpc>
              <a:spcBef>
                <a:spcPts val="40"/>
              </a:spcBef>
            </a:pPr>
            <a:r>
              <a:rPr sz="950" dirty="0">
                <a:solidFill>
                  <a:srgbClr val="6E6E6E"/>
                </a:solidFill>
                <a:latin typeface="Arial"/>
                <a:cs typeface="Arial"/>
              </a:rPr>
              <a:t>Master</a:t>
            </a:r>
            <a:r>
              <a:rPr sz="950" spc="-2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E6E6E"/>
                </a:solidFill>
                <a:latin typeface="Arial"/>
                <a:cs typeface="Arial"/>
              </a:rPr>
              <a:t>of</a:t>
            </a:r>
            <a:r>
              <a:rPr sz="950" spc="-6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E6E6E"/>
                </a:solidFill>
                <a:latin typeface="Arial"/>
                <a:cs typeface="Arial"/>
              </a:rPr>
              <a:t>Advanced</a:t>
            </a:r>
            <a:r>
              <a:rPr sz="950" spc="-1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E6E6E"/>
                </a:solidFill>
                <a:latin typeface="Arial"/>
                <a:cs typeface="Arial"/>
              </a:rPr>
              <a:t>Studies </a:t>
            </a:r>
            <a:r>
              <a:rPr sz="950" dirty="0">
                <a:solidFill>
                  <a:srgbClr val="6E6E6E"/>
                </a:solidFill>
                <a:latin typeface="Arial"/>
                <a:cs typeface="Arial"/>
              </a:rPr>
              <a:t>Applied</a:t>
            </a:r>
            <a:r>
              <a:rPr sz="950" spc="-3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E6E6E"/>
                </a:solidFill>
                <a:latin typeface="Arial"/>
                <a:cs typeface="Arial"/>
              </a:rPr>
              <a:t>Information</a:t>
            </a:r>
            <a:r>
              <a:rPr sz="950" spc="-30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E6E6E"/>
                </a:solidFill>
                <a:latin typeface="Arial"/>
                <a:cs typeface="Arial"/>
              </a:rPr>
              <a:t>&amp;</a:t>
            </a:r>
            <a:r>
              <a:rPr sz="950" spc="-30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E6E6E"/>
                </a:solidFill>
                <a:latin typeface="Arial"/>
                <a:cs typeface="Arial"/>
              </a:rPr>
              <a:t>Data</a:t>
            </a:r>
            <a:r>
              <a:rPr sz="950" spc="-30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E6E6E"/>
                </a:solidFill>
                <a:latin typeface="Arial"/>
                <a:cs typeface="Arial"/>
              </a:rPr>
              <a:t>Science</a:t>
            </a:r>
            <a:endParaRPr sz="9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32698"/>
            <a:ext cx="12179300" cy="59252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0" y="2148835"/>
            <a:ext cx="7232650" cy="2385910"/>
          </a:xfrm>
          <a:prstGeom prst="rect">
            <a:avLst/>
          </a:prstGeom>
          <a:solidFill>
            <a:srgbClr val="215BAE">
              <a:alpha val="94116"/>
            </a:srgbClr>
          </a:solidFill>
        </p:spPr>
        <p:txBody>
          <a:bodyPr vert="horz" wrap="square" lIns="0" tIns="221615" rIns="0" bIns="0" rtlCol="0">
            <a:spAutoFit/>
          </a:bodyPr>
          <a:lstStyle/>
          <a:p>
            <a:pPr rtl="0"/>
            <a:r>
              <a:rPr lang="en-GB" sz="3100" b="1" spc="-30" dirty="0">
                <a:solidFill>
                  <a:srgbClr val="FFFFFF"/>
                </a:solidFill>
                <a:latin typeface="Arial"/>
                <a:cs typeface="Arial"/>
              </a:rPr>
              <a:t>Project 2: AI audit for health network</a:t>
            </a:r>
            <a:br>
              <a:rPr lang="en-CH" sz="3200" dirty="0"/>
            </a:br>
            <a:endParaRPr sz="3100" dirty="0">
              <a:latin typeface="Arial"/>
              <a:cs typeface="Arial"/>
            </a:endParaRPr>
          </a:p>
          <a:p>
            <a:pPr marL="520700">
              <a:lnSpc>
                <a:spcPct val="100000"/>
              </a:lnSpc>
              <a:spcBef>
                <a:spcPts val="5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3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Solutions</a:t>
            </a:r>
            <a:endParaRPr sz="1300" dirty="0">
              <a:latin typeface="Arial"/>
              <a:cs typeface="Arial"/>
            </a:endParaRPr>
          </a:p>
          <a:p>
            <a:pPr marL="520700">
              <a:lnSpc>
                <a:spcPct val="100000"/>
              </a:lnSpc>
              <a:spcBef>
                <a:spcPts val="280"/>
              </a:spcBef>
            </a:pP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ETH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Zürich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16.</a:t>
            </a:r>
            <a:r>
              <a:rPr sz="1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FFFFFF"/>
                </a:solidFill>
                <a:latin typeface="Arial"/>
                <a:cs typeface="Arial"/>
              </a:rPr>
              <a:t>July</a:t>
            </a:r>
            <a:r>
              <a:rPr sz="13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300" dirty="0">
              <a:latin typeface="Arial"/>
              <a:cs typeface="Arial"/>
            </a:endParaRPr>
          </a:p>
          <a:p>
            <a:pPr marL="520700">
              <a:lnSpc>
                <a:spcPct val="100000"/>
              </a:lnSpc>
            </a:pPr>
            <a:r>
              <a:rPr lang="en-GB" sz="1400" b="1" spc="-45" dirty="0">
                <a:solidFill>
                  <a:srgbClr val="FFFFFF"/>
                </a:solidFill>
                <a:latin typeface="Arial"/>
                <a:cs typeface="Arial"/>
              </a:rPr>
              <a:t>Dimitrios </a:t>
            </a:r>
            <a:r>
              <a:rPr lang="en-GB" sz="1400" b="1" spc="-45" dirty="0" err="1">
                <a:solidFill>
                  <a:srgbClr val="FFFFFF"/>
                </a:solidFill>
                <a:latin typeface="Arial"/>
                <a:cs typeface="Arial"/>
              </a:rPr>
              <a:t>Dekas</a:t>
            </a:r>
            <a:r>
              <a:rPr lang="en-GB" sz="1400" b="1" spc="-4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1400" b="1" spc="-10" dirty="0">
                <a:solidFill>
                  <a:srgbClr val="FFFFFF"/>
                </a:solidFill>
                <a:latin typeface="Arial"/>
                <a:cs typeface="Arial"/>
              </a:rPr>
              <a:t>Ana Sofia Luna</a:t>
            </a:r>
          </a:p>
          <a:p>
            <a:pPr marL="520700"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Agenda</a:t>
            </a:r>
          </a:p>
        </p:txBody>
      </p:sp>
      <p:sp>
        <p:nvSpPr>
          <p:cNvPr id="7" name="object 7"/>
          <p:cNvSpPr/>
          <p:nvPr/>
        </p:nvSpPr>
        <p:spPr>
          <a:xfrm>
            <a:off x="640078" y="1417317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4" y="384046"/>
                </a:moveTo>
                <a:lnTo>
                  <a:pt x="147995" y="378975"/>
                </a:lnTo>
                <a:lnTo>
                  <a:pt x="107577" y="364529"/>
                </a:lnTo>
                <a:lnTo>
                  <a:pt x="71923" y="341861"/>
                </a:lnTo>
                <a:lnTo>
                  <a:pt x="42185" y="312124"/>
                </a:lnTo>
                <a:lnTo>
                  <a:pt x="19517" y="276470"/>
                </a:lnTo>
                <a:lnTo>
                  <a:pt x="5071" y="236053"/>
                </a:lnTo>
                <a:lnTo>
                  <a:pt x="0" y="192024"/>
                </a:lnTo>
                <a:lnTo>
                  <a:pt x="5071" y="147995"/>
                </a:lnTo>
                <a:lnTo>
                  <a:pt x="19517" y="107577"/>
                </a:lnTo>
                <a:lnTo>
                  <a:pt x="42185" y="71923"/>
                </a:lnTo>
                <a:lnTo>
                  <a:pt x="71923" y="42185"/>
                </a:lnTo>
                <a:lnTo>
                  <a:pt x="107577" y="19517"/>
                </a:lnTo>
                <a:lnTo>
                  <a:pt x="147995" y="5071"/>
                </a:lnTo>
                <a:lnTo>
                  <a:pt x="192024" y="0"/>
                </a:lnTo>
                <a:lnTo>
                  <a:pt x="229661" y="3723"/>
                </a:lnTo>
                <a:lnTo>
                  <a:pt x="298558" y="32261"/>
                </a:lnTo>
                <a:lnTo>
                  <a:pt x="351784" y="85489"/>
                </a:lnTo>
                <a:lnTo>
                  <a:pt x="380323" y="154386"/>
                </a:lnTo>
                <a:lnTo>
                  <a:pt x="384046" y="192024"/>
                </a:lnTo>
                <a:lnTo>
                  <a:pt x="378975" y="236053"/>
                </a:lnTo>
                <a:lnTo>
                  <a:pt x="364529" y="276470"/>
                </a:lnTo>
                <a:lnTo>
                  <a:pt x="341861" y="312124"/>
                </a:lnTo>
                <a:lnTo>
                  <a:pt x="312124" y="341861"/>
                </a:lnTo>
                <a:lnTo>
                  <a:pt x="276470" y="364529"/>
                </a:lnTo>
                <a:lnTo>
                  <a:pt x="236053" y="378975"/>
                </a:lnTo>
                <a:lnTo>
                  <a:pt x="192024" y="384046"/>
                </a:lnTo>
                <a:close/>
              </a:path>
            </a:pathLst>
          </a:custGeom>
          <a:solidFill>
            <a:srgbClr val="215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2911" y="1466593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7729" y="1325754"/>
            <a:ext cx="2913380" cy="34176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lang="en-GB" sz="1550" b="1" spc="-10" dirty="0">
                <a:solidFill>
                  <a:srgbClr val="1A1A1A"/>
                </a:solidFill>
                <a:latin typeface="Arial"/>
                <a:cs typeface="Arial"/>
              </a:rPr>
              <a:t>What we have learned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87804" y="2682359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4" y="384049"/>
                </a:moveTo>
                <a:lnTo>
                  <a:pt x="147995" y="378977"/>
                </a:lnTo>
                <a:lnTo>
                  <a:pt x="107577" y="364531"/>
                </a:lnTo>
                <a:lnTo>
                  <a:pt x="71923" y="341862"/>
                </a:lnTo>
                <a:lnTo>
                  <a:pt x="42185" y="312125"/>
                </a:lnTo>
                <a:lnTo>
                  <a:pt x="19517" y="276471"/>
                </a:lnTo>
                <a:lnTo>
                  <a:pt x="5071" y="236053"/>
                </a:lnTo>
                <a:lnTo>
                  <a:pt x="0" y="192024"/>
                </a:lnTo>
                <a:lnTo>
                  <a:pt x="5071" y="147995"/>
                </a:lnTo>
                <a:lnTo>
                  <a:pt x="19517" y="107578"/>
                </a:lnTo>
                <a:lnTo>
                  <a:pt x="42185" y="71924"/>
                </a:lnTo>
                <a:lnTo>
                  <a:pt x="71923" y="42186"/>
                </a:lnTo>
                <a:lnTo>
                  <a:pt x="107577" y="19518"/>
                </a:lnTo>
                <a:lnTo>
                  <a:pt x="147995" y="5071"/>
                </a:lnTo>
                <a:lnTo>
                  <a:pt x="192024" y="0"/>
                </a:lnTo>
                <a:lnTo>
                  <a:pt x="229661" y="3723"/>
                </a:lnTo>
                <a:lnTo>
                  <a:pt x="298558" y="32262"/>
                </a:lnTo>
                <a:lnTo>
                  <a:pt x="351784" y="85490"/>
                </a:lnTo>
                <a:lnTo>
                  <a:pt x="380323" y="154388"/>
                </a:lnTo>
                <a:lnTo>
                  <a:pt x="384046" y="192024"/>
                </a:lnTo>
                <a:lnTo>
                  <a:pt x="378975" y="236053"/>
                </a:lnTo>
                <a:lnTo>
                  <a:pt x="364529" y="276471"/>
                </a:lnTo>
                <a:lnTo>
                  <a:pt x="341861" y="312125"/>
                </a:lnTo>
                <a:lnTo>
                  <a:pt x="312124" y="341862"/>
                </a:lnTo>
                <a:lnTo>
                  <a:pt x="276470" y="364531"/>
                </a:lnTo>
                <a:lnTo>
                  <a:pt x="236053" y="378977"/>
                </a:lnTo>
                <a:lnTo>
                  <a:pt x="192024" y="384049"/>
                </a:lnTo>
                <a:close/>
              </a:path>
            </a:pathLst>
          </a:custGeom>
          <a:solidFill>
            <a:srgbClr val="215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10637" y="2731638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5455" y="2590800"/>
            <a:ext cx="2626995" cy="582852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lang="en-GB" sz="1550" b="1" spc="-10" dirty="0">
                <a:solidFill>
                  <a:srgbClr val="1A1A1A"/>
                </a:solidFill>
                <a:latin typeface="Arial"/>
                <a:cs typeface="Arial"/>
              </a:rPr>
              <a:t>Motivation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GB" sz="1150" spc="-10" dirty="0">
                <a:solidFill>
                  <a:srgbClr val="6E6E6E"/>
                </a:solidFill>
                <a:latin typeface="Arial"/>
                <a:cs typeface="Arial"/>
              </a:rPr>
              <a:t>Project scenario</a:t>
            </a:r>
            <a:endParaRPr lang="en-GB" sz="115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87139" y="3831317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4" y="384049"/>
                </a:moveTo>
                <a:lnTo>
                  <a:pt x="147995" y="378977"/>
                </a:lnTo>
                <a:lnTo>
                  <a:pt x="107577" y="364531"/>
                </a:lnTo>
                <a:lnTo>
                  <a:pt x="71923" y="341862"/>
                </a:lnTo>
                <a:lnTo>
                  <a:pt x="42185" y="312125"/>
                </a:lnTo>
                <a:lnTo>
                  <a:pt x="19517" y="276471"/>
                </a:lnTo>
                <a:lnTo>
                  <a:pt x="5071" y="236053"/>
                </a:lnTo>
                <a:lnTo>
                  <a:pt x="0" y="192024"/>
                </a:lnTo>
                <a:lnTo>
                  <a:pt x="5071" y="147995"/>
                </a:lnTo>
                <a:lnTo>
                  <a:pt x="19517" y="107578"/>
                </a:lnTo>
                <a:lnTo>
                  <a:pt x="42185" y="71924"/>
                </a:lnTo>
                <a:lnTo>
                  <a:pt x="71923" y="42186"/>
                </a:lnTo>
                <a:lnTo>
                  <a:pt x="107577" y="19518"/>
                </a:lnTo>
                <a:lnTo>
                  <a:pt x="147995" y="5071"/>
                </a:lnTo>
                <a:lnTo>
                  <a:pt x="192024" y="0"/>
                </a:lnTo>
                <a:lnTo>
                  <a:pt x="229661" y="3726"/>
                </a:lnTo>
                <a:lnTo>
                  <a:pt x="298558" y="32273"/>
                </a:lnTo>
                <a:lnTo>
                  <a:pt x="351784" y="85501"/>
                </a:lnTo>
                <a:lnTo>
                  <a:pt x="380323" y="154391"/>
                </a:lnTo>
                <a:lnTo>
                  <a:pt x="384046" y="192024"/>
                </a:lnTo>
                <a:lnTo>
                  <a:pt x="378975" y="236053"/>
                </a:lnTo>
                <a:lnTo>
                  <a:pt x="364529" y="276471"/>
                </a:lnTo>
                <a:lnTo>
                  <a:pt x="341861" y="312125"/>
                </a:lnTo>
                <a:lnTo>
                  <a:pt x="312124" y="341862"/>
                </a:lnTo>
                <a:lnTo>
                  <a:pt x="276470" y="364531"/>
                </a:lnTo>
                <a:lnTo>
                  <a:pt x="236053" y="378977"/>
                </a:lnTo>
                <a:lnTo>
                  <a:pt x="192024" y="384049"/>
                </a:lnTo>
                <a:close/>
              </a:path>
            </a:pathLst>
          </a:custGeom>
          <a:solidFill>
            <a:srgbClr val="215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909972" y="3880604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04790" y="3739765"/>
            <a:ext cx="2613660" cy="59372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lang="en-GB" sz="1550" b="1" dirty="0">
                <a:solidFill>
                  <a:srgbClr val="1A1A1A"/>
                </a:solidFill>
                <a:latin typeface="Arial"/>
                <a:cs typeface="Arial"/>
              </a:rPr>
              <a:t>Task</a:t>
            </a: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GB" sz="1150" spc="-10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73799" y="5038339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4" y="384049"/>
                </a:moveTo>
                <a:lnTo>
                  <a:pt x="147995" y="378977"/>
                </a:lnTo>
                <a:lnTo>
                  <a:pt x="107577" y="364531"/>
                </a:lnTo>
                <a:lnTo>
                  <a:pt x="71923" y="341862"/>
                </a:lnTo>
                <a:lnTo>
                  <a:pt x="42185" y="312125"/>
                </a:lnTo>
                <a:lnTo>
                  <a:pt x="19517" y="276471"/>
                </a:lnTo>
                <a:lnTo>
                  <a:pt x="5071" y="236053"/>
                </a:lnTo>
                <a:lnTo>
                  <a:pt x="0" y="192024"/>
                </a:lnTo>
                <a:lnTo>
                  <a:pt x="5071" y="147995"/>
                </a:lnTo>
                <a:lnTo>
                  <a:pt x="19517" y="107578"/>
                </a:lnTo>
                <a:lnTo>
                  <a:pt x="42185" y="71924"/>
                </a:lnTo>
                <a:lnTo>
                  <a:pt x="71923" y="42186"/>
                </a:lnTo>
                <a:lnTo>
                  <a:pt x="107577" y="19518"/>
                </a:lnTo>
                <a:lnTo>
                  <a:pt x="147995" y="5071"/>
                </a:lnTo>
                <a:lnTo>
                  <a:pt x="192024" y="0"/>
                </a:lnTo>
                <a:lnTo>
                  <a:pt x="229661" y="3722"/>
                </a:lnTo>
                <a:lnTo>
                  <a:pt x="298558" y="32252"/>
                </a:lnTo>
                <a:lnTo>
                  <a:pt x="351784" y="85480"/>
                </a:lnTo>
                <a:lnTo>
                  <a:pt x="380323" y="154387"/>
                </a:lnTo>
                <a:lnTo>
                  <a:pt x="384046" y="192024"/>
                </a:lnTo>
                <a:lnTo>
                  <a:pt x="378975" y="236053"/>
                </a:lnTo>
                <a:lnTo>
                  <a:pt x="364529" y="276471"/>
                </a:lnTo>
                <a:lnTo>
                  <a:pt x="341861" y="312125"/>
                </a:lnTo>
                <a:lnTo>
                  <a:pt x="312124" y="341862"/>
                </a:lnTo>
                <a:lnTo>
                  <a:pt x="276470" y="364531"/>
                </a:lnTo>
                <a:lnTo>
                  <a:pt x="236053" y="378977"/>
                </a:lnTo>
                <a:lnTo>
                  <a:pt x="192024" y="384049"/>
                </a:lnTo>
                <a:close/>
              </a:path>
            </a:pathLst>
          </a:custGeom>
          <a:solidFill>
            <a:srgbClr val="215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396632" y="5087610"/>
            <a:ext cx="138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91450" y="4946771"/>
            <a:ext cx="2184400" cy="34176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lang="en-GB" sz="1550" b="1" dirty="0">
                <a:solidFill>
                  <a:srgbClr val="1A1A1A"/>
                </a:solidFill>
                <a:latin typeface="Arial"/>
                <a:cs typeface="Arial"/>
              </a:rPr>
              <a:t>Final Hand in</a:t>
            </a:r>
            <a:endParaRPr sz="155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6455662"/>
            <a:ext cx="1060702" cy="173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24656" y="6461238"/>
            <a:ext cx="12312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E6E6E"/>
                </a:solidFill>
                <a:latin typeface="Arial"/>
                <a:cs typeface="Arial"/>
              </a:rPr>
              <a:t>MAS</a:t>
            </a:r>
            <a:r>
              <a:rPr sz="900" spc="-5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E6E6E"/>
                </a:solidFill>
                <a:latin typeface="Arial"/>
                <a:cs typeface="Arial"/>
              </a:rPr>
              <a:t>AID</a:t>
            </a:r>
            <a:r>
              <a:rPr sz="900" spc="240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E6E6E"/>
                </a:solidFill>
                <a:latin typeface="Arial"/>
                <a:cs typeface="Arial"/>
              </a:rPr>
              <a:t>·</a:t>
            </a:r>
            <a:r>
              <a:rPr sz="900" spc="24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E6E6E"/>
                </a:solidFill>
                <a:latin typeface="Arial"/>
                <a:cs typeface="Arial"/>
              </a:rPr>
              <a:t>ETH</a:t>
            </a:r>
            <a:r>
              <a:rPr sz="900" spc="-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E6E6E"/>
                </a:solidFill>
                <a:latin typeface="Arial"/>
                <a:cs typeface="Arial"/>
              </a:rPr>
              <a:t>Zürich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57335" y="6461238"/>
            <a:ext cx="819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6E6E6E"/>
                </a:solidFill>
                <a:latin typeface="Arial"/>
                <a:cs typeface="Arial"/>
              </a:rPr>
              <a:t>TT.</a:t>
            </a:r>
            <a:r>
              <a:rPr sz="900" spc="-2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E6E6E"/>
                </a:solidFill>
                <a:latin typeface="Arial"/>
                <a:cs typeface="Arial"/>
              </a:rPr>
              <a:t>Monat</a:t>
            </a:r>
            <a:r>
              <a:rPr sz="900" spc="-20" dirty="0">
                <a:solidFill>
                  <a:srgbClr val="6E6E6E"/>
                </a:solidFill>
                <a:latin typeface="Arial"/>
                <a:cs typeface="Arial"/>
              </a:rPr>
              <a:t> 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73748" y="6461238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E6E6E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DDE11-0BDE-5C60-12FA-823AB8E0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ECA83C-193A-4621-FD6F-F49DDF594374}"/>
              </a:ext>
            </a:extLst>
          </p:cNvPr>
          <p:cNvSpPr/>
          <p:nvPr/>
        </p:nvSpPr>
        <p:spPr>
          <a:xfrm>
            <a:off x="0" y="0"/>
            <a:ext cx="12179300" cy="6858000"/>
          </a:xfrm>
          <a:custGeom>
            <a:avLst/>
            <a:gdLst/>
            <a:ahLst/>
            <a:cxnLst/>
            <a:rect l="l" t="t" r="r" b="b"/>
            <a:pathLst>
              <a:path w="12179300" h="6858000">
                <a:moveTo>
                  <a:pt x="12179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7999"/>
                </a:lnTo>
                <a:close/>
              </a:path>
            </a:pathLst>
          </a:custGeom>
          <a:solidFill>
            <a:srgbClr val="215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CB401471-BB99-6D6B-7632-93A89555A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378" y="1115057"/>
            <a:ext cx="5538472" cy="235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90"/>
              </a:lnSpc>
              <a:spcBef>
                <a:spcPts val="100"/>
              </a:spcBef>
            </a:pPr>
            <a:r>
              <a:rPr lang="en-CH" sz="12000" spc="-25" dirty="0">
                <a:solidFill>
                  <a:srgbClr val="3D74BF"/>
                </a:solidFill>
              </a:rPr>
              <a:t>0</a:t>
            </a:r>
            <a:r>
              <a:rPr lang="en-GB" sz="12000" spc="-25" dirty="0">
                <a:solidFill>
                  <a:srgbClr val="3D74BF"/>
                </a:solidFill>
              </a:rPr>
              <a:t>1</a:t>
            </a:r>
            <a:endParaRPr sz="12000" dirty="0"/>
          </a:p>
          <a:p>
            <a:pPr marL="30480">
              <a:lnSpc>
                <a:spcPts val="4070"/>
              </a:lnSpc>
            </a:pPr>
            <a:r>
              <a:rPr lang="en-GB" sz="3400" spc="-10" dirty="0">
                <a:solidFill>
                  <a:srgbClr val="FFFFFF"/>
                </a:solidFill>
              </a:rPr>
              <a:t>What you have learned</a:t>
            </a:r>
            <a:endParaRPr sz="3400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7FDB787-0895-8B92-7807-70AECCC2F15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6455662"/>
            <a:ext cx="1060702" cy="17372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E6374FB-89B3-7AA0-8322-53B17208ACE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>
                <a:solidFill>
                  <a:srgbClr val="A5C3E8"/>
                </a:solidFill>
              </a:rPr>
              <a:t>3</a:t>
            </a:fld>
            <a:endParaRPr spc="-50" dirty="0">
              <a:solidFill>
                <a:srgbClr val="A5C3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063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DD3D-1233-5E5C-C767-8A5655A3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CCAD2E3-CAC6-B447-E3E1-35776B3CB3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19" y="400870"/>
            <a:ext cx="8077200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dirty="0"/>
              <a:t>What you have learned</a:t>
            </a: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CE14BA4-F154-D89E-E1B9-C61A5E09F308}"/>
              </a:ext>
            </a:extLst>
          </p:cNvPr>
          <p:cNvSpPr/>
          <p:nvPr/>
        </p:nvSpPr>
        <p:spPr>
          <a:xfrm>
            <a:off x="908050" y="1447800"/>
            <a:ext cx="4748530" cy="1842524"/>
          </a:xfrm>
          <a:custGeom>
            <a:avLst/>
            <a:gdLst/>
            <a:ahLst/>
            <a:cxnLst/>
            <a:rect l="l" t="t" r="r" b="b"/>
            <a:pathLst>
              <a:path w="5486400" h="4480560">
                <a:moveTo>
                  <a:pt x="5404064" y="4480480"/>
                </a:moveTo>
                <a:lnTo>
                  <a:pt x="82299" y="4480480"/>
                </a:lnTo>
                <a:lnTo>
                  <a:pt x="50266" y="4474013"/>
                </a:lnTo>
                <a:lnTo>
                  <a:pt x="24106" y="4456374"/>
                </a:lnTo>
                <a:lnTo>
                  <a:pt x="6467" y="4430214"/>
                </a:lnTo>
                <a:lnTo>
                  <a:pt x="0" y="4398181"/>
                </a:lnTo>
                <a:lnTo>
                  <a:pt x="0" y="82307"/>
                </a:lnTo>
                <a:lnTo>
                  <a:pt x="6467" y="50269"/>
                </a:lnTo>
                <a:lnTo>
                  <a:pt x="24106" y="24107"/>
                </a:lnTo>
                <a:lnTo>
                  <a:pt x="50266" y="6468"/>
                </a:lnTo>
                <a:lnTo>
                  <a:pt x="82299" y="0"/>
                </a:lnTo>
                <a:lnTo>
                  <a:pt x="5404064" y="0"/>
                </a:lnTo>
                <a:lnTo>
                  <a:pt x="5449735" y="13829"/>
                </a:lnTo>
                <a:lnTo>
                  <a:pt x="5480120" y="50809"/>
                </a:lnTo>
                <a:lnTo>
                  <a:pt x="5486388" y="82307"/>
                </a:lnTo>
                <a:lnTo>
                  <a:pt x="5486388" y="4398181"/>
                </a:lnTo>
                <a:lnTo>
                  <a:pt x="5479920" y="4430214"/>
                </a:lnTo>
                <a:lnTo>
                  <a:pt x="5462279" y="4456374"/>
                </a:lnTo>
                <a:lnTo>
                  <a:pt x="5436112" y="4474013"/>
                </a:lnTo>
                <a:lnTo>
                  <a:pt x="5404064" y="448048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B378172-4284-BA28-950A-8119823B4BCD}"/>
              </a:ext>
            </a:extLst>
          </p:cNvPr>
          <p:cNvSpPr txBox="1"/>
          <p:nvPr/>
        </p:nvSpPr>
        <p:spPr>
          <a:xfrm>
            <a:off x="1122206" y="2041694"/>
            <a:ext cx="4272796" cy="9551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1A1A"/>
                </a:solidFill>
                <a:latin typeface="Arial"/>
                <a:cs typeface="Arial"/>
              </a:rPr>
              <a:t>For local explanations</a:t>
            </a:r>
          </a:p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CH" sz="1400" dirty="0"/>
              <a:t>why did the model score </a:t>
            </a:r>
            <a:r>
              <a:rPr lang="en-CH" sz="1400" i="1" dirty="0"/>
              <a:t>this one patient</a:t>
            </a:r>
            <a:r>
              <a:rPr lang="en-CH" sz="1400" dirty="0"/>
              <a:t> the way it did</a:t>
            </a:r>
            <a:endParaRPr sz="1350" dirty="0">
              <a:latin typeface="Arial"/>
              <a:cs typeface="Arial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FBAD511-D1E2-3EBF-3089-EA0E49024C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6455662"/>
            <a:ext cx="1060702" cy="173724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6A927A47-4B39-68CE-D6BB-A71B7969276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>
                <a:solidFill>
                  <a:srgbClr val="A5C3E8"/>
                </a:solidFill>
              </a:rPr>
              <a:t>4</a:t>
            </a:fld>
            <a:endParaRPr spc="-50" dirty="0">
              <a:solidFill>
                <a:srgbClr val="A5C3E8"/>
              </a:solidFill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0E868882-1903-98CE-8CF9-B8B8628BB58F}"/>
              </a:ext>
            </a:extLst>
          </p:cNvPr>
          <p:cNvSpPr txBox="1"/>
          <p:nvPr/>
        </p:nvSpPr>
        <p:spPr>
          <a:xfrm>
            <a:off x="1122206" y="1664407"/>
            <a:ext cx="474853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00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LIME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3" name="object 4">
            <a:extLst>
              <a:ext uri="{FF2B5EF4-FFF2-40B4-BE49-F238E27FC236}">
                <a16:creationId xmlns:a16="http://schemas.microsoft.com/office/drawing/2014/main" id="{839C3D92-8F5D-278A-31AD-D1701BEF88D1}"/>
              </a:ext>
            </a:extLst>
          </p:cNvPr>
          <p:cNvSpPr/>
          <p:nvPr/>
        </p:nvSpPr>
        <p:spPr>
          <a:xfrm>
            <a:off x="908051" y="3567677"/>
            <a:ext cx="4748530" cy="1981200"/>
          </a:xfrm>
          <a:custGeom>
            <a:avLst/>
            <a:gdLst/>
            <a:ahLst/>
            <a:cxnLst/>
            <a:rect l="l" t="t" r="r" b="b"/>
            <a:pathLst>
              <a:path w="5486400" h="4480560">
                <a:moveTo>
                  <a:pt x="5404064" y="4480480"/>
                </a:moveTo>
                <a:lnTo>
                  <a:pt x="82299" y="4480480"/>
                </a:lnTo>
                <a:lnTo>
                  <a:pt x="50266" y="4474013"/>
                </a:lnTo>
                <a:lnTo>
                  <a:pt x="24106" y="4456374"/>
                </a:lnTo>
                <a:lnTo>
                  <a:pt x="6467" y="4430214"/>
                </a:lnTo>
                <a:lnTo>
                  <a:pt x="0" y="4398181"/>
                </a:lnTo>
                <a:lnTo>
                  <a:pt x="0" y="82307"/>
                </a:lnTo>
                <a:lnTo>
                  <a:pt x="6467" y="50269"/>
                </a:lnTo>
                <a:lnTo>
                  <a:pt x="24106" y="24107"/>
                </a:lnTo>
                <a:lnTo>
                  <a:pt x="50266" y="6468"/>
                </a:lnTo>
                <a:lnTo>
                  <a:pt x="82299" y="0"/>
                </a:lnTo>
                <a:lnTo>
                  <a:pt x="5404064" y="0"/>
                </a:lnTo>
                <a:lnTo>
                  <a:pt x="5449735" y="13829"/>
                </a:lnTo>
                <a:lnTo>
                  <a:pt x="5480120" y="50809"/>
                </a:lnTo>
                <a:lnTo>
                  <a:pt x="5486388" y="82307"/>
                </a:lnTo>
                <a:lnTo>
                  <a:pt x="5486388" y="4398181"/>
                </a:lnTo>
                <a:lnTo>
                  <a:pt x="5479920" y="4430214"/>
                </a:lnTo>
                <a:lnTo>
                  <a:pt x="5462279" y="4456374"/>
                </a:lnTo>
                <a:lnTo>
                  <a:pt x="5436112" y="4474013"/>
                </a:lnTo>
                <a:lnTo>
                  <a:pt x="5404064" y="448048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6">
            <a:extLst>
              <a:ext uri="{FF2B5EF4-FFF2-40B4-BE49-F238E27FC236}">
                <a16:creationId xmlns:a16="http://schemas.microsoft.com/office/drawing/2014/main" id="{D87ABA56-B3D2-B795-E956-F68FB7502F66}"/>
              </a:ext>
            </a:extLst>
          </p:cNvPr>
          <p:cNvSpPr txBox="1"/>
          <p:nvPr/>
        </p:nvSpPr>
        <p:spPr>
          <a:xfrm>
            <a:off x="1122207" y="4161571"/>
            <a:ext cx="4272796" cy="9551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1A1A"/>
                </a:solidFill>
                <a:latin typeface="Arial"/>
                <a:cs typeface="Arial"/>
              </a:rPr>
              <a:t>For global explanations</a:t>
            </a:r>
          </a:p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CH" sz="1400" dirty="0"/>
              <a:t>what does the model rely on across hundreds of patients, on average. 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1E0C99A6-A3D2-B3C0-7A28-29A605069548}"/>
              </a:ext>
            </a:extLst>
          </p:cNvPr>
          <p:cNvSpPr txBox="1"/>
          <p:nvPr/>
        </p:nvSpPr>
        <p:spPr>
          <a:xfrm>
            <a:off x="1122207" y="3784284"/>
            <a:ext cx="474853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00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SHAP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7FF4CE42-636D-26DF-5C18-E14D03B6C3B5}"/>
              </a:ext>
            </a:extLst>
          </p:cNvPr>
          <p:cNvSpPr/>
          <p:nvPr/>
        </p:nvSpPr>
        <p:spPr>
          <a:xfrm>
            <a:off x="6565305" y="1447800"/>
            <a:ext cx="4748530" cy="1842524"/>
          </a:xfrm>
          <a:custGeom>
            <a:avLst/>
            <a:gdLst/>
            <a:ahLst/>
            <a:cxnLst/>
            <a:rect l="l" t="t" r="r" b="b"/>
            <a:pathLst>
              <a:path w="5486400" h="4480560">
                <a:moveTo>
                  <a:pt x="5404064" y="4480480"/>
                </a:moveTo>
                <a:lnTo>
                  <a:pt x="82299" y="4480480"/>
                </a:lnTo>
                <a:lnTo>
                  <a:pt x="50266" y="4474013"/>
                </a:lnTo>
                <a:lnTo>
                  <a:pt x="24106" y="4456374"/>
                </a:lnTo>
                <a:lnTo>
                  <a:pt x="6467" y="4430214"/>
                </a:lnTo>
                <a:lnTo>
                  <a:pt x="0" y="4398181"/>
                </a:lnTo>
                <a:lnTo>
                  <a:pt x="0" y="82307"/>
                </a:lnTo>
                <a:lnTo>
                  <a:pt x="6467" y="50269"/>
                </a:lnTo>
                <a:lnTo>
                  <a:pt x="24106" y="24107"/>
                </a:lnTo>
                <a:lnTo>
                  <a:pt x="50266" y="6468"/>
                </a:lnTo>
                <a:lnTo>
                  <a:pt x="82299" y="0"/>
                </a:lnTo>
                <a:lnTo>
                  <a:pt x="5404064" y="0"/>
                </a:lnTo>
                <a:lnTo>
                  <a:pt x="5449735" y="13829"/>
                </a:lnTo>
                <a:lnTo>
                  <a:pt x="5480120" y="50809"/>
                </a:lnTo>
                <a:lnTo>
                  <a:pt x="5486388" y="82307"/>
                </a:lnTo>
                <a:lnTo>
                  <a:pt x="5486388" y="4398181"/>
                </a:lnTo>
                <a:lnTo>
                  <a:pt x="5479920" y="4430214"/>
                </a:lnTo>
                <a:lnTo>
                  <a:pt x="5462279" y="4456374"/>
                </a:lnTo>
                <a:lnTo>
                  <a:pt x="5436112" y="4474013"/>
                </a:lnTo>
                <a:lnTo>
                  <a:pt x="5404064" y="448048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6">
            <a:extLst>
              <a:ext uri="{FF2B5EF4-FFF2-40B4-BE49-F238E27FC236}">
                <a16:creationId xmlns:a16="http://schemas.microsoft.com/office/drawing/2014/main" id="{BF9BC363-FB9B-2CF2-F748-D86A7A8B16D8}"/>
              </a:ext>
            </a:extLst>
          </p:cNvPr>
          <p:cNvSpPr txBox="1"/>
          <p:nvPr/>
        </p:nvSpPr>
        <p:spPr>
          <a:xfrm>
            <a:off x="6779461" y="2041694"/>
            <a:ext cx="4272796" cy="9423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Arial"/>
                <a:cs typeface="Arial"/>
              </a:rPr>
              <a:t>T</a:t>
            </a:r>
            <a:r>
              <a:rPr lang="en-CH" sz="1400" dirty="0" err="1"/>
              <a:t>akes</a:t>
            </a:r>
            <a:r>
              <a:rPr lang="en-CH" sz="1400" dirty="0"/>
              <a:t> the model's hidden state at an intermediate layer and </a:t>
            </a:r>
            <a:r>
              <a:rPr lang="en-GB" sz="1400" dirty="0"/>
              <a:t>answers </a:t>
            </a:r>
            <a:r>
              <a:rPr lang="en-CH" sz="1400" dirty="0"/>
              <a:t>what concepts lead to the decision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39" name="object 6">
            <a:extLst>
              <a:ext uri="{FF2B5EF4-FFF2-40B4-BE49-F238E27FC236}">
                <a16:creationId xmlns:a16="http://schemas.microsoft.com/office/drawing/2014/main" id="{B8DEBD94-64BE-5618-83DD-E295025586EC}"/>
              </a:ext>
            </a:extLst>
          </p:cNvPr>
          <p:cNvSpPr txBox="1"/>
          <p:nvPr/>
        </p:nvSpPr>
        <p:spPr>
          <a:xfrm>
            <a:off x="6779461" y="1664407"/>
            <a:ext cx="474853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00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Logit lens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CEA8C377-2B94-0F37-CCCB-6E8E234F7051}"/>
              </a:ext>
            </a:extLst>
          </p:cNvPr>
          <p:cNvSpPr/>
          <p:nvPr/>
        </p:nvSpPr>
        <p:spPr>
          <a:xfrm>
            <a:off x="6565305" y="3706353"/>
            <a:ext cx="4748530" cy="1487240"/>
          </a:xfrm>
          <a:custGeom>
            <a:avLst/>
            <a:gdLst/>
            <a:ahLst/>
            <a:cxnLst/>
            <a:rect l="l" t="t" r="r" b="b"/>
            <a:pathLst>
              <a:path w="5486400" h="4480560">
                <a:moveTo>
                  <a:pt x="5404064" y="4480480"/>
                </a:moveTo>
                <a:lnTo>
                  <a:pt x="82299" y="4480480"/>
                </a:lnTo>
                <a:lnTo>
                  <a:pt x="50266" y="4474013"/>
                </a:lnTo>
                <a:lnTo>
                  <a:pt x="24106" y="4456374"/>
                </a:lnTo>
                <a:lnTo>
                  <a:pt x="6467" y="4430214"/>
                </a:lnTo>
                <a:lnTo>
                  <a:pt x="0" y="4398181"/>
                </a:lnTo>
                <a:lnTo>
                  <a:pt x="0" y="82307"/>
                </a:lnTo>
                <a:lnTo>
                  <a:pt x="6467" y="50269"/>
                </a:lnTo>
                <a:lnTo>
                  <a:pt x="24106" y="24107"/>
                </a:lnTo>
                <a:lnTo>
                  <a:pt x="50266" y="6468"/>
                </a:lnTo>
                <a:lnTo>
                  <a:pt x="82299" y="0"/>
                </a:lnTo>
                <a:lnTo>
                  <a:pt x="5404064" y="0"/>
                </a:lnTo>
                <a:lnTo>
                  <a:pt x="5449735" y="13829"/>
                </a:lnTo>
                <a:lnTo>
                  <a:pt x="5480120" y="50809"/>
                </a:lnTo>
                <a:lnTo>
                  <a:pt x="5486388" y="82307"/>
                </a:lnTo>
                <a:lnTo>
                  <a:pt x="5486388" y="4398181"/>
                </a:lnTo>
                <a:lnTo>
                  <a:pt x="5479920" y="4430214"/>
                </a:lnTo>
                <a:lnTo>
                  <a:pt x="5462279" y="4456374"/>
                </a:lnTo>
                <a:lnTo>
                  <a:pt x="5436112" y="4474013"/>
                </a:lnTo>
                <a:lnTo>
                  <a:pt x="5404064" y="448048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6">
            <a:extLst>
              <a:ext uri="{FF2B5EF4-FFF2-40B4-BE49-F238E27FC236}">
                <a16:creationId xmlns:a16="http://schemas.microsoft.com/office/drawing/2014/main" id="{5DBEA012-12EC-2816-E70E-14C48C573560}"/>
              </a:ext>
            </a:extLst>
          </p:cNvPr>
          <p:cNvSpPr txBox="1"/>
          <p:nvPr/>
        </p:nvSpPr>
        <p:spPr>
          <a:xfrm>
            <a:off x="6779461" y="4300247"/>
            <a:ext cx="4272796" cy="6192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1A1A1A"/>
                </a:solidFill>
                <a:latin typeface="Arial"/>
                <a:cs typeface="Arial"/>
              </a:rPr>
              <a:t>R</a:t>
            </a:r>
            <a:r>
              <a:rPr lang="en-CH" sz="1400" dirty="0"/>
              <a:t>e-expresses </a:t>
            </a:r>
            <a:r>
              <a:rPr lang="en-GB" sz="1400" dirty="0"/>
              <a:t>a </a:t>
            </a:r>
            <a:r>
              <a:rPr lang="en-CH" sz="1400" dirty="0"/>
              <a:t>vector as a much larger but sparse set of features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45" name="object 6">
            <a:extLst>
              <a:ext uri="{FF2B5EF4-FFF2-40B4-BE49-F238E27FC236}">
                <a16:creationId xmlns:a16="http://schemas.microsoft.com/office/drawing/2014/main" id="{27FD0927-217A-819A-62EF-3EBCAD4BA427}"/>
              </a:ext>
            </a:extLst>
          </p:cNvPr>
          <p:cNvSpPr txBox="1"/>
          <p:nvPr/>
        </p:nvSpPr>
        <p:spPr>
          <a:xfrm>
            <a:off x="6779461" y="3922960"/>
            <a:ext cx="474853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00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Spare auto encoder</a:t>
            </a:r>
            <a:endParaRPr sz="2000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526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9300" cy="6858000"/>
          </a:xfrm>
          <a:custGeom>
            <a:avLst/>
            <a:gdLst/>
            <a:ahLst/>
            <a:cxnLst/>
            <a:rect l="l" t="t" r="r" b="b"/>
            <a:pathLst>
              <a:path w="12179300" h="6858000">
                <a:moveTo>
                  <a:pt x="12179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7999"/>
                </a:lnTo>
                <a:close/>
              </a:path>
            </a:pathLst>
          </a:custGeom>
          <a:solidFill>
            <a:srgbClr val="215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7378" y="1115057"/>
            <a:ext cx="2199005" cy="237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90"/>
              </a:lnSpc>
              <a:spcBef>
                <a:spcPts val="100"/>
              </a:spcBef>
            </a:pPr>
            <a:r>
              <a:rPr lang="en-CH" sz="12000" spc="-25" dirty="0">
                <a:solidFill>
                  <a:srgbClr val="3D74BF"/>
                </a:solidFill>
              </a:rPr>
              <a:t>0</a:t>
            </a:r>
            <a:r>
              <a:rPr lang="en-GB" sz="12000" spc="-25" dirty="0">
                <a:solidFill>
                  <a:srgbClr val="3D74BF"/>
                </a:solidFill>
              </a:rPr>
              <a:t>2</a:t>
            </a:r>
            <a:endParaRPr sz="12000" dirty="0"/>
          </a:p>
          <a:p>
            <a:pPr marL="30480">
              <a:lnSpc>
                <a:spcPts val="4070"/>
              </a:lnSpc>
            </a:pPr>
            <a:r>
              <a:rPr sz="3400" spc="-10" dirty="0">
                <a:solidFill>
                  <a:srgbClr val="FFFFFF"/>
                </a:solidFill>
              </a:rPr>
              <a:t>Motivation</a:t>
            </a:r>
            <a:endParaRPr sz="340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6455662"/>
            <a:ext cx="1060702" cy="1737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>
                <a:solidFill>
                  <a:srgbClr val="A5C3E8"/>
                </a:solidFill>
              </a:rPr>
              <a:t>5</a:t>
            </a:fld>
            <a:endParaRPr spc="-50" dirty="0">
              <a:solidFill>
                <a:srgbClr val="A5C3E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0219" y="400870"/>
            <a:ext cx="8077200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CH" dirty="0"/>
              <a:t>Future-Driven Diagnostics</a:t>
            </a:r>
            <a:r>
              <a:rPr lang="en-GB" b="0" dirty="0"/>
              <a:t> faces a problem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6133816" y="1371600"/>
            <a:ext cx="5486400" cy="2438400"/>
          </a:xfrm>
          <a:custGeom>
            <a:avLst/>
            <a:gdLst/>
            <a:ahLst/>
            <a:cxnLst/>
            <a:rect l="l" t="t" r="r" b="b"/>
            <a:pathLst>
              <a:path w="5486400" h="4480560">
                <a:moveTo>
                  <a:pt x="5404064" y="4480480"/>
                </a:moveTo>
                <a:lnTo>
                  <a:pt x="82299" y="4480480"/>
                </a:lnTo>
                <a:lnTo>
                  <a:pt x="50266" y="4474013"/>
                </a:lnTo>
                <a:lnTo>
                  <a:pt x="24106" y="4456374"/>
                </a:lnTo>
                <a:lnTo>
                  <a:pt x="6467" y="4430214"/>
                </a:lnTo>
                <a:lnTo>
                  <a:pt x="0" y="4398181"/>
                </a:lnTo>
                <a:lnTo>
                  <a:pt x="0" y="82307"/>
                </a:lnTo>
                <a:lnTo>
                  <a:pt x="6467" y="50269"/>
                </a:lnTo>
                <a:lnTo>
                  <a:pt x="24106" y="24107"/>
                </a:lnTo>
                <a:lnTo>
                  <a:pt x="50266" y="6468"/>
                </a:lnTo>
                <a:lnTo>
                  <a:pt x="82299" y="0"/>
                </a:lnTo>
                <a:lnTo>
                  <a:pt x="5404064" y="0"/>
                </a:lnTo>
                <a:lnTo>
                  <a:pt x="5449735" y="13829"/>
                </a:lnTo>
                <a:lnTo>
                  <a:pt x="5480120" y="50809"/>
                </a:lnTo>
                <a:lnTo>
                  <a:pt x="5486388" y="82307"/>
                </a:lnTo>
                <a:lnTo>
                  <a:pt x="5486388" y="4398181"/>
                </a:lnTo>
                <a:lnTo>
                  <a:pt x="5479920" y="4430214"/>
                </a:lnTo>
                <a:lnTo>
                  <a:pt x="5462279" y="4456374"/>
                </a:lnTo>
                <a:lnTo>
                  <a:pt x="5436112" y="4474013"/>
                </a:lnTo>
                <a:lnTo>
                  <a:pt x="5404064" y="448048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47973" y="2092737"/>
            <a:ext cx="4748530" cy="18748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1A1A"/>
                </a:solidFill>
                <a:latin typeface="Arial"/>
                <a:cs typeface="Arial"/>
              </a:rPr>
              <a:t>Slower appointment time: </a:t>
            </a:r>
            <a:r>
              <a:rPr lang="en-GB" sz="1400" dirty="0">
                <a:solidFill>
                  <a:srgbClr val="1A1A1A"/>
                </a:solidFill>
                <a:latin typeface="Arial"/>
                <a:cs typeface="Arial"/>
              </a:rPr>
              <a:t>patients are available months in advance</a:t>
            </a:r>
            <a:endParaRPr lang="en-GB" sz="1400" b="1" dirty="0">
              <a:solidFill>
                <a:srgbClr val="1A1A1A"/>
              </a:solidFill>
              <a:latin typeface="Arial"/>
              <a:cs typeface="Arial"/>
            </a:endParaRPr>
          </a:p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1A1A"/>
                </a:solidFill>
                <a:latin typeface="Arial"/>
                <a:cs typeface="Arial"/>
              </a:rPr>
              <a:t>Slower analysis results</a:t>
            </a:r>
            <a:r>
              <a:rPr sz="1400" b="1" dirty="0">
                <a:solidFill>
                  <a:srgbClr val="1A1A1A"/>
                </a:solidFill>
                <a:latin typeface="Arial"/>
                <a:cs typeface="Arial"/>
              </a:rPr>
              <a:t>:</a:t>
            </a:r>
            <a:r>
              <a:rPr lang="en-GB" sz="1400" b="1" spc="35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lang="en-GB" sz="1400" dirty="0">
                <a:solidFill>
                  <a:srgbClr val="1A1A1A"/>
                </a:solidFill>
                <a:latin typeface="Arial"/>
                <a:cs typeface="Arial"/>
              </a:rPr>
              <a:t>Results of tests and analysis are taking longer and can but patients at risk</a:t>
            </a:r>
          </a:p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1A1A"/>
                </a:solidFill>
                <a:latin typeface="Arial"/>
                <a:cs typeface="Arial"/>
              </a:rPr>
              <a:t>Doctors and nurses are overworked</a:t>
            </a:r>
            <a:endParaRPr sz="1400" b="1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5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6455662"/>
            <a:ext cx="1060702" cy="1737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>
                <a:solidFill>
                  <a:srgbClr val="A5C3E8"/>
                </a:solidFill>
              </a:rPr>
              <a:t>6</a:t>
            </a:fld>
            <a:endParaRPr spc="-50" dirty="0">
              <a:solidFill>
                <a:srgbClr val="A5C3E8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52C37C-D22D-3E62-3E26-63AF4C2D1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84" y="1219200"/>
            <a:ext cx="5196880" cy="2836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847A26-95D1-F641-26B6-05573606C7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657" t="15982" r="21875" b="37120"/>
          <a:stretch>
            <a:fillRect/>
          </a:stretch>
        </p:blipFill>
        <p:spPr>
          <a:xfrm>
            <a:off x="3575050" y="4240097"/>
            <a:ext cx="4768566" cy="2200948"/>
          </a:xfrm>
          <a:prstGeom prst="rect">
            <a:avLst/>
          </a:prstGeom>
        </p:spPr>
      </p:pic>
      <p:sp>
        <p:nvSpPr>
          <p:cNvPr id="13" name="object 6">
            <a:extLst>
              <a:ext uri="{FF2B5EF4-FFF2-40B4-BE49-F238E27FC236}">
                <a16:creationId xmlns:a16="http://schemas.microsoft.com/office/drawing/2014/main" id="{B3917B9E-A2D4-9CF4-0D81-5DBFCE34BAA0}"/>
              </a:ext>
            </a:extLst>
          </p:cNvPr>
          <p:cNvSpPr txBox="1"/>
          <p:nvPr/>
        </p:nvSpPr>
        <p:spPr>
          <a:xfrm>
            <a:off x="6347973" y="1588207"/>
            <a:ext cx="474853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000" b="1" dirty="0">
                <a:solidFill>
                  <a:srgbClr val="C00000"/>
                </a:solidFill>
                <a:latin typeface="Arial"/>
                <a:cs typeface="Arial"/>
              </a:rPr>
              <a:t>Problem</a:t>
            </a:r>
            <a:endParaRPr sz="2000" dirty="0">
              <a:solidFill>
                <a:srgbClr val="C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18799" y="369345"/>
            <a:ext cx="2399051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0" dirty="0">
                <a:solidFill>
                  <a:srgbClr val="215BAE"/>
                </a:solidFill>
                <a:latin typeface="Arial"/>
                <a:cs typeface="Arial"/>
              </a:rPr>
              <a:t>MOTIVATION</a:t>
            </a:r>
            <a:r>
              <a:rPr sz="1300" b="1" spc="-20" dirty="0">
                <a:solidFill>
                  <a:srgbClr val="215BAE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15BAE"/>
                </a:solidFill>
                <a:latin typeface="Arial"/>
                <a:cs typeface="Arial"/>
              </a:rPr>
              <a:t>·</a:t>
            </a:r>
            <a:r>
              <a:rPr sz="1300" b="1" spc="-15" dirty="0">
                <a:solidFill>
                  <a:srgbClr val="215BAE"/>
                </a:solidFill>
                <a:latin typeface="Arial"/>
                <a:cs typeface="Arial"/>
              </a:rPr>
              <a:t> </a:t>
            </a:r>
            <a:r>
              <a:rPr lang="en-GB" sz="1300" b="1" dirty="0">
                <a:solidFill>
                  <a:srgbClr val="215BAE"/>
                </a:solidFill>
                <a:latin typeface="Arial"/>
                <a:cs typeface="Arial"/>
              </a:rPr>
              <a:t>Observations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1498" y="804670"/>
            <a:ext cx="134620" cy="365760"/>
          </a:xfrm>
          <a:custGeom>
            <a:avLst/>
            <a:gdLst/>
            <a:ahLst/>
            <a:cxnLst/>
            <a:rect l="l" t="t" r="r" b="b"/>
            <a:pathLst>
              <a:path w="134619" h="365759">
                <a:moveTo>
                  <a:pt x="134099" y="365699"/>
                </a:moveTo>
                <a:lnTo>
                  <a:pt x="0" y="365699"/>
                </a:lnTo>
                <a:lnTo>
                  <a:pt x="0" y="0"/>
                </a:lnTo>
                <a:lnTo>
                  <a:pt x="134099" y="0"/>
                </a:lnTo>
                <a:lnTo>
                  <a:pt x="134099" y="365699"/>
                </a:lnTo>
                <a:close/>
              </a:path>
            </a:pathLst>
          </a:custGeom>
          <a:solidFill>
            <a:srgbClr val="215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87013" y="771650"/>
            <a:ext cx="7312437" cy="489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100" dirty="0"/>
              <a:t>Observations made from the hospital</a:t>
            </a:r>
            <a:endParaRPr sz="3100" dirty="0"/>
          </a:p>
        </p:txBody>
      </p:sp>
      <p:sp>
        <p:nvSpPr>
          <p:cNvPr id="7" name="object 7"/>
          <p:cNvSpPr txBox="1"/>
          <p:nvPr/>
        </p:nvSpPr>
        <p:spPr>
          <a:xfrm>
            <a:off x="718798" y="1832657"/>
            <a:ext cx="7733052" cy="3554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lang="en-GB" sz="1900" dirty="0">
                <a:solidFill>
                  <a:srgbClr val="1A1A1A"/>
                </a:solidFill>
                <a:latin typeface="Arial"/>
                <a:cs typeface="Arial"/>
              </a:rPr>
              <a:t>The hospital detected 5 of the most commons reasons and procedure people seek medical attention. </a:t>
            </a:r>
            <a:r>
              <a:rPr lang="en-CH" sz="1800" dirty="0"/>
              <a:t>The hospital has accumulated seven AI systems</a:t>
            </a:r>
            <a:r>
              <a:rPr lang="en-GB" sz="1900" dirty="0">
                <a:solidFill>
                  <a:srgbClr val="1A1A1A"/>
                </a:solidFill>
                <a:latin typeface="Arial"/>
                <a:cs typeface="Arial"/>
              </a:rPr>
              <a:t>:</a:t>
            </a:r>
          </a:p>
          <a:p>
            <a:pPr marL="298450" marR="5080" indent="-285750">
              <a:lnSpc>
                <a:spcPct val="112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CH" sz="1800" dirty="0"/>
              <a:t>cardiovascular risk score</a:t>
            </a:r>
            <a:endParaRPr lang="en-GB" sz="1800" dirty="0"/>
          </a:p>
          <a:p>
            <a:pPr marL="298450" marR="5080" indent="-285750">
              <a:lnSpc>
                <a:spcPct val="112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CH" sz="1800" dirty="0"/>
              <a:t>hospital-readmission predictor</a:t>
            </a:r>
            <a:endParaRPr lang="en-GB" sz="1800" dirty="0"/>
          </a:p>
          <a:p>
            <a:pPr marL="298450" marR="5080" indent="-285750">
              <a:lnSpc>
                <a:spcPct val="112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CH" sz="1800" dirty="0"/>
              <a:t>stroke triage flag</a:t>
            </a:r>
            <a:endParaRPr lang="en-GB" sz="1800" dirty="0"/>
          </a:p>
          <a:p>
            <a:pPr marL="298450" marR="5080" indent="-285750">
              <a:lnSpc>
                <a:spcPct val="112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CH" sz="1800" dirty="0"/>
              <a:t>chest X-ray reader</a:t>
            </a:r>
            <a:endParaRPr lang="en-GB" sz="1800" dirty="0"/>
          </a:p>
          <a:p>
            <a:pPr marL="298450" marR="5080" indent="-285750">
              <a:lnSpc>
                <a:spcPct val="112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CH" sz="1800" dirty="0"/>
              <a:t>skin-lesion screener</a:t>
            </a:r>
            <a:endParaRPr lang="en-GB" sz="1800" dirty="0"/>
          </a:p>
          <a:p>
            <a:pPr marL="298450" marR="5080" indent="-285750">
              <a:lnSpc>
                <a:spcPct val="112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CH" sz="1800" dirty="0"/>
              <a:t>Breast-ultrasound screener </a:t>
            </a:r>
            <a:endParaRPr lang="en-GB" sz="1800" dirty="0"/>
          </a:p>
          <a:p>
            <a:pPr marL="298450" marR="5080" indent="-285750">
              <a:lnSpc>
                <a:spcPct val="112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CH" sz="1800" dirty="0"/>
              <a:t>Colon-histopathology classifier</a:t>
            </a:r>
            <a:endParaRPr lang="en-GB" sz="1800" dirty="0"/>
          </a:p>
          <a:p>
            <a:pPr marL="298450" marR="5080" indent="-285750">
              <a:lnSpc>
                <a:spcPct val="112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CH" sz="1800" dirty="0"/>
              <a:t>LLM-based clinical assistant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498" y="6505637"/>
            <a:ext cx="983865" cy="16214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75">
              <a:lnSpc>
                <a:spcPts val="1315"/>
              </a:lnSpc>
            </a:pPr>
            <a:r>
              <a:rPr sz="1100" spc="-50" dirty="0">
                <a:solidFill>
                  <a:srgbClr val="6B7280"/>
                </a:solidFill>
              </a:rPr>
              <a:t>2</a:t>
            </a:r>
            <a:endParaRPr sz="1100"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239F4401-6BE6-4A75-8357-45F4A4ED8BE1}"/>
              </a:ext>
            </a:extLst>
          </p:cNvPr>
          <p:cNvSpPr/>
          <p:nvPr/>
        </p:nvSpPr>
        <p:spPr>
          <a:xfrm>
            <a:off x="5556250" y="3048000"/>
            <a:ext cx="5486400" cy="2133600"/>
          </a:xfrm>
          <a:custGeom>
            <a:avLst/>
            <a:gdLst/>
            <a:ahLst/>
            <a:cxnLst/>
            <a:rect l="l" t="t" r="r" b="b"/>
            <a:pathLst>
              <a:path w="5486400" h="4480560">
                <a:moveTo>
                  <a:pt x="5404064" y="4480480"/>
                </a:moveTo>
                <a:lnTo>
                  <a:pt x="82299" y="4480480"/>
                </a:lnTo>
                <a:lnTo>
                  <a:pt x="50266" y="4474013"/>
                </a:lnTo>
                <a:lnTo>
                  <a:pt x="24106" y="4456374"/>
                </a:lnTo>
                <a:lnTo>
                  <a:pt x="6467" y="4430214"/>
                </a:lnTo>
                <a:lnTo>
                  <a:pt x="0" y="4398181"/>
                </a:lnTo>
                <a:lnTo>
                  <a:pt x="0" y="82307"/>
                </a:lnTo>
                <a:lnTo>
                  <a:pt x="6467" y="50269"/>
                </a:lnTo>
                <a:lnTo>
                  <a:pt x="24106" y="24107"/>
                </a:lnTo>
                <a:lnTo>
                  <a:pt x="50266" y="6468"/>
                </a:lnTo>
                <a:lnTo>
                  <a:pt x="82299" y="0"/>
                </a:lnTo>
                <a:lnTo>
                  <a:pt x="5404064" y="0"/>
                </a:lnTo>
                <a:lnTo>
                  <a:pt x="5449735" y="13829"/>
                </a:lnTo>
                <a:lnTo>
                  <a:pt x="5480120" y="50809"/>
                </a:lnTo>
                <a:lnTo>
                  <a:pt x="5486388" y="82307"/>
                </a:lnTo>
                <a:lnTo>
                  <a:pt x="5486388" y="4398181"/>
                </a:lnTo>
                <a:lnTo>
                  <a:pt x="5479920" y="4430214"/>
                </a:lnTo>
                <a:lnTo>
                  <a:pt x="5462279" y="4456374"/>
                </a:lnTo>
                <a:lnTo>
                  <a:pt x="5436112" y="4474013"/>
                </a:lnTo>
                <a:lnTo>
                  <a:pt x="5404064" y="448048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4CE32EB3-3204-F30E-0045-F6F389B6C833}"/>
              </a:ext>
            </a:extLst>
          </p:cNvPr>
          <p:cNvSpPr txBox="1"/>
          <p:nvPr/>
        </p:nvSpPr>
        <p:spPr>
          <a:xfrm>
            <a:off x="5770407" y="3769137"/>
            <a:ext cx="4748530" cy="9551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1A1A"/>
                </a:solidFill>
                <a:latin typeface="Arial"/>
                <a:cs typeface="Arial"/>
              </a:rPr>
              <a:t>Help diagnose patients quicker: </a:t>
            </a:r>
            <a:r>
              <a:rPr lang="en-GB" sz="1400" dirty="0">
                <a:solidFill>
                  <a:srgbClr val="1A1A1A"/>
                </a:solidFill>
                <a:latin typeface="Arial"/>
                <a:cs typeface="Arial"/>
              </a:rPr>
              <a:t>Giving patients results quicker</a:t>
            </a:r>
          </a:p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1A1A"/>
                </a:solidFill>
                <a:latin typeface="Arial"/>
                <a:cs typeface="Arial"/>
              </a:rPr>
              <a:t>Doctors will be able to attend more people overall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6C3FC17B-310E-172D-76E6-635E34D33D09}"/>
              </a:ext>
            </a:extLst>
          </p:cNvPr>
          <p:cNvSpPr txBox="1"/>
          <p:nvPr/>
        </p:nvSpPr>
        <p:spPr>
          <a:xfrm>
            <a:off x="5770407" y="3264607"/>
            <a:ext cx="474853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2000" b="1" dirty="0">
                <a:solidFill>
                  <a:schemeClr val="accent3">
                    <a:lumMod val="50000"/>
                  </a:schemeClr>
                </a:solidFill>
                <a:latin typeface="Arial"/>
                <a:cs typeface="Arial"/>
              </a:rPr>
              <a:t>Improvement</a:t>
            </a:r>
            <a:endParaRPr sz="2000" dirty="0">
              <a:solidFill>
                <a:schemeClr val="accent3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18799" y="369345"/>
            <a:ext cx="177863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0" dirty="0">
                <a:solidFill>
                  <a:srgbClr val="215BAE"/>
                </a:solidFill>
                <a:latin typeface="Arial"/>
                <a:cs typeface="Arial"/>
              </a:rPr>
              <a:t>MOTIVATION</a:t>
            </a:r>
            <a:r>
              <a:rPr sz="1300" b="1" spc="-20" dirty="0">
                <a:solidFill>
                  <a:srgbClr val="215BAE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215BAE"/>
                </a:solidFill>
                <a:latin typeface="Arial"/>
                <a:cs typeface="Arial"/>
              </a:rPr>
              <a:t>·</a:t>
            </a:r>
            <a:r>
              <a:rPr sz="1300" b="1" spc="-15" dirty="0">
                <a:solidFill>
                  <a:srgbClr val="215BAE"/>
                </a:solidFill>
                <a:latin typeface="Arial"/>
                <a:cs typeface="Arial"/>
              </a:rPr>
              <a:t> </a:t>
            </a:r>
            <a:r>
              <a:rPr lang="en-GB" sz="1300" b="1" dirty="0">
                <a:solidFill>
                  <a:srgbClr val="215BAE"/>
                </a:solidFill>
                <a:latin typeface="Arial"/>
                <a:cs typeface="Arial"/>
              </a:rPr>
              <a:t>Audit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1498" y="804670"/>
            <a:ext cx="134620" cy="365760"/>
          </a:xfrm>
          <a:custGeom>
            <a:avLst/>
            <a:gdLst/>
            <a:ahLst/>
            <a:cxnLst/>
            <a:rect l="l" t="t" r="r" b="b"/>
            <a:pathLst>
              <a:path w="134619" h="365759">
                <a:moveTo>
                  <a:pt x="134099" y="365699"/>
                </a:moveTo>
                <a:lnTo>
                  <a:pt x="0" y="365699"/>
                </a:lnTo>
                <a:lnTo>
                  <a:pt x="0" y="0"/>
                </a:lnTo>
                <a:lnTo>
                  <a:pt x="134099" y="0"/>
                </a:lnTo>
                <a:lnTo>
                  <a:pt x="134099" y="365699"/>
                </a:lnTo>
                <a:close/>
              </a:path>
            </a:pathLst>
          </a:custGeom>
          <a:solidFill>
            <a:srgbClr val="215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87013" y="771650"/>
            <a:ext cx="655891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100" dirty="0"/>
              <a:t>Audit consultant</a:t>
            </a:r>
            <a:endParaRPr sz="3100" dirty="0"/>
          </a:p>
        </p:txBody>
      </p:sp>
      <p:sp>
        <p:nvSpPr>
          <p:cNvPr id="6" name="object 6"/>
          <p:cNvSpPr txBox="1"/>
          <p:nvPr/>
        </p:nvSpPr>
        <p:spPr>
          <a:xfrm>
            <a:off x="731498" y="1584671"/>
            <a:ext cx="5420057" cy="14132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GB" sz="1900" dirty="0">
                <a:solidFill>
                  <a:srgbClr val="1A1A1A"/>
                </a:solidFill>
                <a:latin typeface="Arial"/>
                <a:cs typeface="Arial"/>
              </a:rPr>
              <a:t>Every</a:t>
            </a:r>
            <a:r>
              <a:rPr lang="en-CH" sz="1800" dirty="0"/>
              <a:t> one of these systems reports strong accuracy. </a:t>
            </a:r>
            <a:r>
              <a:rPr lang="en-GB" sz="1800" dirty="0"/>
              <a:t>However no one has ever asked why they work.</a:t>
            </a:r>
            <a:r>
              <a:rPr lang="en-CH" sz="1800" b="1" dirty="0"/>
              <a:t> </a:t>
            </a:r>
            <a:endParaRPr lang="en-GB" sz="1800" b="1" dirty="0"/>
          </a:p>
          <a:p>
            <a:r>
              <a:rPr lang="en-CH" sz="1800" dirty="0"/>
              <a:t>Compliance won't let any of them near a real patient until someone can answer three questions for every single system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498" y="6505637"/>
            <a:ext cx="983865" cy="16214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275">
              <a:lnSpc>
                <a:spcPts val="1315"/>
              </a:lnSpc>
            </a:pPr>
            <a:r>
              <a:rPr sz="1100" spc="-50" dirty="0">
                <a:solidFill>
                  <a:srgbClr val="6B7280"/>
                </a:solidFill>
              </a:rPr>
              <a:t>3</a:t>
            </a:r>
            <a:endParaRPr sz="110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816FF83-F7F8-54BD-2AE2-B286243D0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17671"/>
              </p:ext>
            </p:extLst>
          </p:nvPr>
        </p:nvGraphicFramePr>
        <p:xfrm>
          <a:off x="6237175" y="965901"/>
          <a:ext cx="5420058" cy="3532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508">
                  <a:extLst>
                    <a:ext uri="{9D8B030D-6E8A-4147-A177-3AD203B41FA5}">
                      <a16:colId xmlns:a16="http://schemas.microsoft.com/office/drawing/2014/main" val="854665710"/>
                    </a:ext>
                  </a:extLst>
                </a:gridCol>
                <a:gridCol w="1695567">
                  <a:extLst>
                    <a:ext uri="{9D8B030D-6E8A-4147-A177-3AD203B41FA5}">
                      <a16:colId xmlns:a16="http://schemas.microsoft.com/office/drawing/2014/main" val="3796861874"/>
                    </a:ext>
                  </a:extLst>
                </a:gridCol>
                <a:gridCol w="1528983">
                  <a:extLst>
                    <a:ext uri="{9D8B030D-6E8A-4147-A177-3AD203B41FA5}">
                      <a16:colId xmlns:a16="http://schemas.microsoft.com/office/drawing/2014/main" val="1068886459"/>
                    </a:ext>
                  </a:extLst>
                </a:gridCol>
              </a:tblGrid>
              <a:tr h="37109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Model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Metric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Performance Score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728209707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Cardiovascular Risk Score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Cardiovascular risk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96.2%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74349554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Hospital-Readmission Predictor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Readmission predictor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95.8%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12726995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Stroke Triage Flag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Stroke triage flag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97.1%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90512075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Chest X-ray Reader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Chest x-ray reader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96.5%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2518325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Skin-Lesion Screener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Skin-lesion screener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95.5%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87184146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0" marR="5080" indent="0">
                        <a:lnSpc>
                          <a:spcPct val="112000"/>
                        </a:lnSpc>
                        <a:spcBef>
                          <a:spcPts val="1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CH" sz="1200" dirty="0"/>
                        <a:t>Breast-ultrasound screener </a:t>
                      </a:r>
                      <a:endParaRPr lang="en-GB" sz="1200" dirty="0"/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Ultrasound screener</a:t>
                      </a:r>
                      <a:endParaRPr lang="en-CH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9</a:t>
                      </a:r>
                      <a:r>
                        <a:rPr lang="en-GB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2</a:t>
                      </a:r>
                      <a:r>
                        <a:rPr lang="en-CH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.0%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16901127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12700" marR="5080" lvl="0" indent="0" defTabSz="914400" eaLnBrk="1" fontAlgn="auto" latinLnBrk="0" hangingPunct="1">
                        <a:lnSpc>
                          <a:spcPct val="112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H" sz="1200" dirty="0"/>
                        <a:t>Colon-histopathology classifier</a:t>
                      </a:r>
                      <a:endParaRPr lang="en-GB" sz="1200" dirty="0"/>
                    </a:p>
                    <a:p>
                      <a:pPr marL="298450" marR="5080" indent="-285750">
                        <a:lnSpc>
                          <a:spcPct val="112000"/>
                        </a:lnSpc>
                        <a:spcBef>
                          <a:spcPts val="100"/>
                        </a:spcBef>
                        <a:buFont typeface="Arial" panose="020B0604020202020204" pitchFamily="34" charset="0"/>
                        <a:buChar char="•"/>
                      </a:pPr>
                      <a:endParaRPr lang="en-GB" sz="1200" dirty="0"/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/>
                        <a:t>h</a:t>
                      </a:r>
                      <a:r>
                        <a:rPr lang="en-CH" sz="1100" dirty="0" err="1"/>
                        <a:t>istopathology</a:t>
                      </a:r>
                      <a:r>
                        <a:rPr lang="en-CH" sz="1100" dirty="0"/>
                        <a:t> </a:t>
                      </a:r>
                      <a:r>
                        <a:rPr lang="en-CH" sz="1100" dirty="0" err="1"/>
                        <a:t>classifi</a:t>
                      </a:r>
                      <a:r>
                        <a:rPr lang="en-GB" sz="1100" dirty="0"/>
                        <a:t>e</a:t>
                      </a:r>
                      <a:r>
                        <a:rPr lang="en-CH" sz="1100" dirty="0"/>
                        <a:t>r</a:t>
                      </a:r>
                      <a:endParaRPr lang="en-GB" sz="1100" dirty="0"/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96.3%</a:t>
                      </a:r>
                      <a:endParaRPr lang="en-CH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93352048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New LLM-based Clinical Assistant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Clinical assistant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H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97.3%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00705293"/>
                  </a:ext>
                </a:extLst>
              </a:tr>
            </a:tbl>
          </a:graphicData>
        </a:graphic>
      </p:graphicFrame>
      <p:sp>
        <p:nvSpPr>
          <p:cNvPr id="17" name="object 6">
            <a:extLst>
              <a:ext uri="{FF2B5EF4-FFF2-40B4-BE49-F238E27FC236}">
                <a16:creationId xmlns:a16="http://schemas.microsoft.com/office/drawing/2014/main" id="{D7EBCFD0-3631-B77D-732F-4C76EB07DB59}"/>
              </a:ext>
            </a:extLst>
          </p:cNvPr>
          <p:cNvSpPr txBox="1"/>
          <p:nvPr/>
        </p:nvSpPr>
        <p:spPr>
          <a:xfrm>
            <a:off x="718799" y="3153519"/>
            <a:ext cx="5420057" cy="14593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GB" sz="1900" dirty="0">
                <a:solidFill>
                  <a:srgbClr val="1A1A1A"/>
                </a:solidFill>
                <a:latin typeface="Arial"/>
                <a:cs typeface="Arial"/>
              </a:rPr>
              <a:t>You are hired as an AI audit consultant to review the consistency of the models to send them into production.</a:t>
            </a:r>
          </a:p>
          <a:p>
            <a:endParaRPr lang="en-GB" sz="1900" dirty="0">
              <a:solidFill>
                <a:srgbClr val="1A1A1A"/>
              </a:solidFill>
              <a:latin typeface="Arial"/>
              <a:cs typeface="Arial"/>
            </a:endParaRPr>
          </a:p>
          <a:p>
            <a:endParaRPr lang="en-CH" sz="1800" dirty="0"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34E2E1A2-D005-B0E9-C7AF-B7FD6FC5B8D3}"/>
              </a:ext>
            </a:extLst>
          </p:cNvPr>
          <p:cNvSpPr/>
          <p:nvPr/>
        </p:nvSpPr>
        <p:spPr>
          <a:xfrm>
            <a:off x="1670050" y="4612893"/>
            <a:ext cx="6710475" cy="1727236"/>
          </a:xfrm>
          <a:custGeom>
            <a:avLst/>
            <a:gdLst/>
            <a:ahLst/>
            <a:cxnLst/>
            <a:rect l="l" t="t" r="r" b="b"/>
            <a:pathLst>
              <a:path w="5486400" h="4480560">
                <a:moveTo>
                  <a:pt x="5404064" y="4480480"/>
                </a:moveTo>
                <a:lnTo>
                  <a:pt x="82299" y="4480480"/>
                </a:lnTo>
                <a:lnTo>
                  <a:pt x="50266" y="4474013"/>
                </a:lnTo>
                <a:lnTo>
                  <a:pt x="24106" y="4456374"/>
                </a:lnTo>
                <a:lnTo>
                  <a:pt x="6467" y="4430214"/>
                </a:lnTo>
                <a:lnTo>
                  <a:pt x="0" y="4398181"/>
                </a:lnTo>
                <a:lnTo>
                  <a:pt x="0" y="82307"/>
                </a:lnTo>
                <a:lnTo>
                  <a:pt x="6467" y="50269"/>
                </a:lnTo>
                <a:lnTo>
                  <a:pt x="24106" y="24107"/>
                </a:lnTo>
                <a:lnTo>
                  <a:pt x="50266" y="6468"/>
                </a:lnTo>
                <a:lnTo>
                  <a:pt x="82299" y="0"/>
                </a:lnTo>
                <a:lnTo>
                  <a:pt x="5404064" y="0"/>
                </a:lnTo>
                <a:lnTo>
                  <a:pt x="5449735" y="13829"/>
                </a:lnTo>
                <a:lnTo>
                  <a:pt x="5480120" y="50809"/>
                </a:lnTo>
                <a:lnTo>
                  <a:pt x="5486388" y="82307"/>
                </a:lnTo>
                <a:lnTo>
                  <a:pt x="5486388" y="4398181"/>
                </a:lnTo>
                <a:lnTo>
                  <a:pt x="5479920" y="4430214"/>
                </a:lnTo>
                <a:lnTo>
                  <a:pt x="5462279" y="4456374"/>
                </a:lnTo>
                <a:lnTo>
                  <a:pt x="5436112" y="4474013"/>
                </a:lnTo>
                <a:lnTo>
                  <a:pt x="5404064" y="448048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2A73C04F-ACD1-CCDD-7428-5EFE3F8A0B31}"/>
              </a:ext>
            </a:extLst>
          </p:cNvPr>
          <p:cNvSpPr txBox="1"/>
          <p:nvPr/>
        </p:nvSpPr>
        <p:spPr>
          <a:xfrm>
            <a:off x="1898650" y="4773975"/>
            <a:ext cx="5807978" cy="16170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1A1A"/>
                </a:solidFill>
                <a:latin typeface="Arial"/>
                <a:cs typeface="Arial"/>
              </a:rPr>
              <a:t>What is it using to make these decisions? </a:t>
            </a:r>
          </a:p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1A1A"/>
                </a:solidFill>
                <a:latin typeface="Arial"/>
                <a:cs typeface="Arial"/>
              </a:rPr>
              <a:t>Does this hold up or is it a shortcut that happens to correlate to the right answer?</a:t>
            </a:r>
          </a:p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1A1A1A"/>
                </a:solidFill>
                <a:latin typeface="Arial"/>
                <a:cs typeface="Arial"/>
              </a:rPr>
              <a:t>How do we know the explanation is trustworthy?</a:t>
            </a:r>
          </a:p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13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9300" cy="6858000"/>
          </a:xfrm>
          <a:custGeom>
            <a:avLst/>
            <a:gdLst/>
            <a:ahLst/>
            <a:cxnLst/>
            <a:rect l="l" t="t" r="r" b="b"/>
            <a:pathLst>
              <a:path w="12179300" h="6858000">
                <a:moveTo>
                  <a:pt x="121792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7999"/>
                </a:lnTo>
                <a:close/>
              </a:path>
            </a:pathLst>
          </a:custGeom>
          <a:solidFill>
            <a:srgbClr val="215B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7378" y="1115057"/>
            <a:ext cx="4954905" cy="237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90"/>
              </a:lnSpc>
              <a:spcBef>
                <a:spcPts val="100"/>
              </a:spcBef>
            </a:pPr>
            <a:r>
              <a:rPr sz="12000" spc="-25" dirty="0">
                <a:solidFill>
                  <a:srgbClr val="3D74BF"/>
                </a:solidFill>
              </a:rPr>
              <a:t>0</a:t>
            </a:r>
            <a:r>
              <a:rPr lang="en-GB" sz="12000" spc="-25" dirty="0">
                <a:solidFill>
                  <a:srgbClr val="3D74BF"/>
                </a:solidFill>
              </a:rPr>
              <a:t>3</a:t>
            </a:r>
            <a:endParaRPr sz="12000" dirty="0"/>
          </a:p>
          <a:p>
            <a:pPr marL="30480">
              <a:lnSpc>
                <a:spcPts val="4070"/>
              </a:lnSpc>
            </a:pPr>
            <a:r>
              <a:rPr lang="en-GB" sz="3400" dirty="0">
                <a:solidFill>
                  <a:srgbClr val="FFFFFF"/>
                </a:solidFill>
              </a:rPr>
              <a:t>Your task</a:t>
            </a:r>
            <a:endParaRPr sz="340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6455662"/>
            <a:ext cx="1060702" cy="1737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613671" y="6507122"/>
            <a:ext cx="103505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sz="1100" spc="-50" dirty="0">
                <a:solidFill>
                  <a:srgbClr val="6B7280"/>
                </a:solidFill>
                <a:latin typeface="Arial"/>
                <a:cs typeface="Arial"/>
              </a:rPr>
              <a:t>7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Goal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08506" y="989073"/>
            <a:ext cx="185991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400" i="1" spc="-20" dirty="0">
                <a:solidFill>
                  <a:srgbClr val="215BAE"/>
                </a:solidFill>
                <a:latin typeface="Arial"/>
                <a:cs typeface="Arial"/>
              </a:rPr>
              <a:t>Audit report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6455662"/>
            <a:ext cx="1060702" cy="1737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724656" y="6472066"/>
            <a:ext cx="123126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6E6E6E"/>
                </a:solidFill>
                <a:latin typeface="Arial"/>
                <a:cs typeface="Arial"/>
              </a:rPr>
              <a:t>MAS</a:t>
            </a:r>
            <a:r>
              <a:rPr sz="900" spc="-5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E6E6E"/>
                </a:solidFill>
                <a:latin typeface="Arial"/>
                <a:cs typeface="Arial"/>
              </a:rPr>
              <a:t>AID</a:t>
            </a:r>
            <a:r>
              <a:rPr sz="900" spc="240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E6E6E"/>
                </a:solidFill>
                <a:latin typeface="Arial"/>
                <a:cs typeface="Arial"/>
              </a:rPr>
              <a:t>·</a:t>
            </a:r>
            <a:r>
              <a:rPr sz="900" spc="24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E6E6E"/>
                </a:solidFill>
                <a:latin typeface="Arial"/>
                <a:cs typeface="Arial"/>
              </a:rPr>
              <a:t>ETH</a:t>
            </a:r>
            <a:r>
              <a:rPr sz="900" spc="-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E6E6E"/>
                </a:solidFill>
                <a:latin typeface="Arial"/>
                <a:cs typeface="Arial"/>
              </a:rPr>
              <a:t>Zürich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57335" y="6472066"/>
            <a:ext cx="81915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35" dirty="0">
                <a:solidFill>
                  <a:srgbClr val="6E6E6E"/>
                </a:solidFill>
                <a:latin typeface="Arial"/>
                <a:cs typeface="Arial"/>
              </a:rPr>
              <a:t>TT.</a:t>
            </a:r>
            <a:r>
              <a:rPr sz="900" spc="-2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E6E6E"/>
                </a:solidFill>
                <a:latin typeface="Arial"/>
                <a:cs typeface="Arial"/>
              </a:rPr>
              <a:t>Monat</a:t>
            </a:r>
            <a:r>
              <a:rPr sz="900" spc="-20" dirty="0">
                <a:solidFill>
                  <a:srgbClr val="6E6E6E"/>
                </a:solidFill>
                <a:latin typeface="Arial"/>
                <a:cs typeface="Arial"/>
              </a:rPr>
              <a:t> 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673748" y="6472066"/>
            <a:ext cx="8953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solidFill>
                  <a:srgbClr val="6E6E6E"/>
                </a:solidFill>
                <a:latin typeface="Arial"/>
                <a:cs typeface="Arial"/>
              </a:rPr>
              <a:t>8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EA6B55-6F28-E6D2-710B-CFFD3C2D4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1" y="1632661"/>
            <a:ext cx="8599572" cy="12012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F3C11BA-E92C-4578-486B-53C860F68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850" y="2912676"/>
            <a:ext cx="1993110" cy="2248121"/>
          </a:xfrm>
          <a:prstGeom prst="rect">
            <a:avLst/>
          </a:prstGeom>
        </p:spPr>
      </p:pic>
      <p:sp>
        <p:nvSpPr>
          <p:cNvPr id="24" name="object 4">
            <a:extLst>
              <a:ext uri="{FF2B5EF4-FFF2-40B4-BE49-F238E27FC236}">
                <a16:creationId xmlns:a16="http://schemas.microsoft.com/office/drawing/2014/main" id="{93CC5178-8D82-9A94-BE20-60695D5D3016}"/>
              </a:ext>
            </a:extLst>
          </p:cNvPr>
          <p:cNvSpPr/>
          <p:nvPr/>
        </p:nvSpPr>
        <p:spPr>
          <a:xfrm>
            <a:off x="6125087" y="3305862"/>
            <a:ext cx="5338875" cy="1854935"/>
          </a:xfrm>
          <a:custGeom>
            <a:avLst/>
            <a:gdLst/>
            <a:ahLst/>
            <a:cxnLst/>
            <a:rect l="l" t="t" r="r" b="b"/>
            <a:pathLst>
              <a:path w="5486400" h="4480560">
                <a:moveTo>
                  <a:pt x="5404064" y="4480480"/>
                </a:moveTo>
                <a:lnTo>
                  <a:pt x="82299" y="4480480"/>
                </a:lnTo>
                <a:lnTo>
                  <a:pt x="50266" y="4474013"/>
                </a:lnTo>
                <a:lnTo>
                  <a:pt x="24106" y="4456374"/>
                </a:lnTo>
                <a:lnTo>
                  <a:pt x="6467" y="4430214"/>
                </a:lnTo>
                <a:lnTo>
                  <a:pt x="0" y="4398181"/>
                </a:lnTo>
                <a:lnTo>
                  <a:pt x="0" y="82307"/>
                </a:lnTo>
                <a:lnTo>
                  <a:pt x="6467" y="50269"/>
                </a:lnTo>
                <a:lnTo>
                  <a:pt x="24106" y="24107"/>
                </a:lnTo>
                <a:lnTo>
                  <a:pt x="50266" y="6468"/>
                </a:lnTo>
                <a:lnTo>
                  <a:pt x="82299" y="0"/>
                </a:lnTo>
                <a:lnTo>
                  <a:pt x="5404064" y="0"/>
                </a:lnTo>
                <a:lnTo>
                  <a:pt x="5449735" y="13829"/>
                </a:lnTo>
                <a:lnTo>
                  <a:pt x="5480120" y="50809"/>
                </a:lnTo>
                <a:lnTo>
                  <a:pt x="5486388" y="82307"/>
                </a:lnTo>
                <a:lnTo>
                  <a:pt x="5486388" y="4398181"/>
                </a:lnTo>
                <a:lnTo>
                  <a:pt x="5479920" y="4430214"/>
                </a:lnTo>
                <a:lnTo>
                  <a:pt x="5462279" y="4456374"/>
                </a:lnTo>
                <a:lnTo>
                  <a:pt x="5436112" y="4474013"/>
                </a:lnTo>
                <a:lnTo>
                  <a:pt x="5404064" y="448048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9B1E5EC-78C6-EF5A-FAE7-EBAA862E0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567618"/>
              </p:ext>
            </p:extLst>
          </p:nvPr>
        </p:nvGraphicFramePr>
        <p:xfrm>
          <a:off x="6201287" y="3415538"/>
          <a:ext cx="5153256" cy="1645920"/>
        </p:xfrm>
        <a:graphic>
          <a:graphicData uri="http://schemas.openxmlformats.org/drawingml/2006/table">
            <a:tbl>
              <a:tblPr/>
              <a:tblGrid>
                <a:gridCol w="644157">
                  <a:extLst>
                    <a:ext uri="{9D8B030D-6E8A-4147-A177-3AD203B41FA5}">
                      <a16:colId xmlns:a16="http://schemas.microsoft.com/office/drawing/2014/main" val="1424575026"/>
                    </a:ext>
                  </a:extLst>
                </a:gridCol>
                <a:gridCol w="644157">
                  <a:extLst>
                    <a:ext uri="{9D8B030D-6E8A-4147-A177-3AD203B41FA5}">
                      <a16:colId xmlns:a16="http://schemas.microsoft.com/office/drawing/2014/main" val="3239794208"/>
                    </a:ext>
                  </a:extLst>
                </a:gridCol>
                <a:gridCol w="644157">
                  <a:extLst>
                    <a:ext uri="{9D8B030D-6E8A-4147-A177-3AD203B41FA5}">
                      <a16:colId xmlns:a16="http://schemas.microsoft.com/office/drawing/2014/main" val="4125248444"/>
                    </a:ext>
                  </a:extLst>
                </a:gridCol>
                <a:gridCol w="644157">
                  <a:extLst>
                    <a:ext uri="{9D8B030D-6E8A-4147-A177-3AD203B41FA5}">
                      <a16:colId xmlns:a16="http://schemas.microsoft.com/office/drawing/2014/main" val="938142645"/>
                    </a:ext>
                  </a:extLst>
                </a:gridCol>
                <a:gridCol w="644157">
                  <a:extLst>
                    <a:ext uri="{9D8B030D-6E8A-4147-A177-3AD203B41FA5}">
                      <a16:colId xmlns:a16="http://schemas.microsoft.com/office/drawing/2014/main" val="1152412185"/>
                    </a:ext>
                  </a:extLst>
                </a:gridCol>
                <a:gridCol w="644157">
                  <a:extLst>
                    <a:ext uri="{9D8B030D-6E8A-4147-A177-3AD203B41FA5}">
                      <a16:colId xmlns:a16="http://schemas.microsoft.com/office/drawing/2014/main" val="2012959850"/>
                    </a:ext>
                  </a:extLst>
                </a:gridCol>
                <a:gridCol w="644157">
                  <a:extLst>
                    <a:ext uri="{9D8B030D-6E8A-4147-A177-3AD203B41FA5}">
                      <a16:colId xmlns:a16="http://schemas.microsoft.com/office/drawing/2014/main" val="2427483431"/>
                    </a:ext>
                  </a:extLst>
                </a:gridCol>
                <a:gridCol w="644157">
                  <a:extLst>
                    <a:ext uri="{9D8B030D-6E8A-4147-A177-3AD203B41FA5}">
                      <a16:colId xmlns:a16="http://schemas.microsoft.com/office/drawing/2014/main" val="3757348286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b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</a:br>
                      <a:r>
                        <a:rPr lang="en-CH" sz="1000" b="0" i="0" dirty="0" err="1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time_in_hospital</a:t>
                      </a:r>
                      <a:endParaRPr lang="en-CH" sz="1000" b="0" i="0" dirty="0">
                        <a:solidFill>
                          <a:schemeClr val="bg1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 err="1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num_lab_procedures</a:t>
                      </a:r>
                      <a:endParaRPr lang="en-CH" sz="1000" b="0" i="0" dirty="0">
                        <a:solidFill>
                          <a:schemeClr val="bg1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 err="1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num_procedures</a:t>
                      </a:r>
                      <a:endParaRPr lang="en-CH" sz="1000" b="0" i="0" dirty="0">
                        <a:solidFill>
                          <a:schemeClr val="bg1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 err="1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num_medications</a:t>
                      </a:r>
                      <a:endParaRPr lang="en-CH" sz="1000" b="0" i="0" dirty="0">
                        <a:solidFill>
                          <a:schemeClr val="bg1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 err="1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number_outpatient</a:t>
                      </a:r>
                      <a:endParaRPr lang="en-CH" sz="1000" b="0" i="0" dirty="0">
                        <a:solidFill>
                          <a:schemeClr val="bg1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 err="1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number_emergency</a:t>
                      </a:r>
                      <a:endParaRPr lang="en-CH" sz="1000" b="0" i="0" dirty="0">
                        <a:solidFill>
                          <a:schemeClr val="bg1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 err="1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number_inpatient</a:t>
                      </a:r>
                      <a:endParaRPr lang="en-CH" sz="1000" b="0" i="0" dirty="0">
                        <a:solidFill>
                          <a:schemeClr val="bg1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 err="1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number_diagnoses</a:t>
                      </a:r>
                      <a:endParaRPr lang="en-CH" sz="1000" b="0" i="0" dirty="0">
                        <a:solidFill>
                          <a:schemeClr val="bg1"/>
                        </a:solidFill>
                        <a:effectLst/>
                        <a:latin typeface="Segoe WPC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16943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0</a:t>
                      </a:r>
                    </a:p>
                  </a:txBody>
                  <a:tcPr marL="60960" marR="60960" marT="30480" marB="3048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-0.13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2.03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0.97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1.35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-0.29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-0.21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4.23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03544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1</a:t>
                      </a:r>
                    </a:p>
                  </a:txBody>
                  <a:tcPr marL="60960" marR="60960" marT="30480" marB="3048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0.87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0.45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-0.79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1.72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-0.29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-0.21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-0.50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50429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2</a:t>
                      </a:r>
                    </a:p>
                  </a:txBody>
                  <a:tcPr marL="60960" marR="60960" marT="30480" marB="3048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0.87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1.37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-0.20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-0.50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-0.29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-0.21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-0.50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81623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3</a:t>
                      </a:r>
                    </a:p>
                  </a:txBody>
                  <a:tcPr marL="60960" marR="60960" marT="30480" marB="3048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0.87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-1.02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-0.20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-0.00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-0.29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-0.21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-0.50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8365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4</a:t>
                      </a:r>
                    </a:p>
                  </a:txBody>
                  <a:tcPr marL="60960" marR="60960" marT="30480" marB="3048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2.55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1.52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2.14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2.70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-0.29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-0.21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H" sz="1000" b="0" i="0" dirty="0">
                          <a:solidFill>
                            <a:schemeClr val="bg1"/>
                          </a:solidFill>
                          <a:effectLst/>
                          <a:latin typeface="Segoe WPC"/>
                        </a:rPr>
                        <a:t>1.08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491366"/>
                  </a:ext>
                </a:extLst>
              </a:tr>
            </a:tbl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C848F748-BB9A-0293-34A3-BC09D2D97A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411"/>
          <a:stretch>
            <a:fillRect/>
          </a:stretch>
        </p:blipFill>
        <p:spPr>
          <a:xfrm>
            <a:off x="3432760" y="2955401"/>
            <a:ext cx="1993110" cy="35046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3E8E760-ED23-253E-DE7C-0C0BE1AE2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6730" y="3254039"/>
            <a:ext cx="1949070" cy="19287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C89ED-21B3-91D6-BBFB-1D4A6C4C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D8A1681-2872-9138-231D-DBC63DE16D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Hand in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C277BD4-72F4-434C-D5AA-B57F6B68159F}"/>
              </a:ext>
            </a:extLst>
          </p:cNvPr>
          <p:cNvSpPr txBox="1"/>
          <p:nvPr/>
        </p:nvSpPr>
        <p:spPr>
          <a:xfrm>
            <a:off x="508506" y="989073"/>
            <a:ext cx="185991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400" i="1" spc="-20" dirty="0">
                <a:solidFill>
                  <a:srgbClr val="215BAE"/>
                </a:solidFill>
                <a:latin typeface="Arial"/>
                <a:cs typeface="Arial"/>
              </a:rPr>
              <a:t>Audit report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DB9D9E2-9BBF-9D6B-2453-201FACD14E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6455662"/>
            <a:ext cx="1060702" cy="173724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E151737F-3E70-B740-EA4E-C490B5413CB9}"/>
              </a:ext>
            </a:extLst>
          </p:cNvPr>
          <p:cNvSpPr txBox="1"/>
          <p:nvPr/>
        </p:nvSpPr>
        <p:spPr>
          <a:xfrm>
            <a:off x="1724656" y="6472066"/>
            <a:ext cx="123126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6E6E6E"/>
                </a:solidFill>
                <a:latin typeface="Arial"/>
                <a:cs typeface="Arial"/>
              </a:rPr>
              <a:t>MAS</a:t>
            </a:r>
            <a:r>
              <a:rPr sz="900" spc="-5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E6E6E"/>
                </a:solidFill>
                <a:latin typeface="Arial"/>
                <a:cs typeface="Arial"/>
              </a:rPr>
              <a:t>AID</a:t>
            </a:r>
            <a:r>
              <a:rPr sz="900" spc="240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E6E6E"/>
                </a:solidFill>
                <a:latin typeface="Arial"/>
                <a:cs typeface="Arial"/>
              </a:rPr>
              <a:t>·</a:t>
            </a:r>
            <a:r>
              <a:rPr sz="900" spc="24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E6E6E"/>
                </a:solidFill>
                <a:latin typeface="Arial"/>
                <a:cs typeface="Arial"/>
              </a:rPr>
              <a:t>ETH</a:t>
            </a:r>
            <a:r>
              <a:rPr sz="900" spc="-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E6E6E"/>
                </a:solidFill>
                <a:latin typeface="Arial"/>
                <a:cs typeface="Arial"/>
              </a:rPr>
              <a:t>Zürich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FBCCA82-9212-9ADD-7DF2-3487367CAD9C}"/>
              </a:ext>
            </a:extLst>
          </p:cNvPr>
          <p:cNvSpPr txBox="1"/>
          <p:nvPr/>
        </p:nvSpPr>
        <p:spPr>
          <a:xfrm>
            <a:off x="10257335" y="6472066"/>
            <a:ext cx="81915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35" dirty="0">
                <a:solidFill>
                  <a:srgbClr val="6E6E6E"/>
                </a:solidFill>
                <a:latin typeface="Arial"/>
                <a:cs typeface="Arial"/>
              </a:rPr>
              <a:t>TT.</a:t>
            </a:r>
            <a:r>
              <a:rPr sz="900" spc="-2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E6E6E"/>
                </a:solidFill>
                <a:latin typeface="Arial"/>
                <a:cs typeface="Arial"/>
              </a:rPr>
              <a:t>Monat</a:t>
            </a:r>
            <a:r>
              <a:rPr sz="900" spc="-20" dirty="0">
                <a:solidFill>
                  <a:srgbClr val="6E6E6E"/>
                </a:solidFill>
                <a:latin typeface="Arial"/>
                <a:cs typeface="Arial"/>
              </a:rPr>
              <a:t> 2026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4CBDA57-E1D8-5855-7A18-849FA1B07346}"/>
              </a:ext>
            </a:extLst>
          </p:cNvPr>
          <p:cNvSpPr txBox="1"/>
          <p:nvPr/>
        </p:nvSpPr>
        <p:spPr>
          <a:xfrm>
            <a:off x="11673748" y="6472066"/>
            <a:ext cx="89535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solidFill>
                  <a:srgbClr val="6E6E6E"/>
                </a:solidFill>
                <a:latin typeface="Arial"/>
                <a:cs typeface="Arial"/>
              </a:rPr>
              <a:t>8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409A9718-0393-BB34-1E71-0149248FE64B}"/>
              </a:ext>
            </a:extLst>
          </p:cNvPr>
          <p:cNvSpPr txBox="1"/>
          <p:nvPr/>
        </p:nvSpPr>
        <p:spPr>
          <a:xfrm>
            <a:off x="502919" y="1583611"/>
            <a:ext cx="10586266" cy="13618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1A1A1A"/>
                </a:solidFill>
                <a:latin typeface="Arial"/>
                <a:cs typeface="Arial"/>
              </a:rPr>
              <a:t>Guideline notebook for you to add your verdict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1A1A1A"/>
                </a:solidFill>
                <a:latin typeface="Arial"/>
                <a:cs typeface="Arial"/>
              </a:rPr>
              <a:t>Create a small report with your observations and fill the final scorecard as </a:t>
            </a:r>
            <a:r>
              <a:rPr lang="en-CH" sz="1600" dirty="0"/>
              <a:t>'Trustworthy', 'Caveats', or 'Not ready’</a:t>
            </a:r>
            <a:r>
              <a:rPr lang="en-GB" sz="1600" dirty="0"/>
              <a:t> and answer the guideline questions</a:t>
            </a:r>
            <a:endParaRPr lang="en-GB" sz="1600" dirty="0">
              <a:solidFill>
                <a:srgbClr val="1A1A1A"/>
              </a:solidFill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endParaRPr lang="en-GB" sz="1350" dirty="0">
              <a:latin typeface="Arial"/>
              <a:cs typeface="Arial"/>
            </a:endParaRPr>
          </a:p>
          <a:p>
            <a:pPr marL="298450" marR="508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1350" dirty="0"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467883-8648-DB7B-85BF-696CCA542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658" y="2663711"/>
            <a:ext cx="9319252" cy="320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76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1582</TotalTime>
  <Words>581</Words>
  <Application>Microsoft Office PowerPoint</Application>
  <PresentationFormat>Custom</PresentationFormat>
  <Paragraphs>158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quote-cjk-patch</vt:lpstr>
      <vt:lpstr>Segoe WPC</vt:lpstr>
      <vt:lpstr>Office Theme</vt:lpstr>
      <vt:lpstr>PowerPoint Presentation</vt:lpstr>
      <vt:lpstr>Agenda</vt:lpstr>
      <vt:lpstr>01 What you have learned</vt:lpstr>
      <vt:lpstr>What you have learned</vt:lpstr>
      <vt:lpstr>02 Motivation</vt:lpstr>
      <vt:lpstr>Future-Driven Diagnostics faces a problem</vt:lpstr>
      <vt:lpstr>Observations made from the hospital</vt:lpstr>
      <vt:lpstr>Audit consultant</vt:lpstr>
      <vt:lpstr>03 Your task</vt:lpstr>
      <vt:lpstr>Goal</vt:lpstr>
      <vt:lpstr>Hand 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LIME_Robustness_Certification</dc:title>
  <cp:lastModifiedBy>Luna De La Pena  Ana Sofia</cp:lastModifiedBy>
  <cp:revision>4</cp:revision>
  <dcterms:created xsi:type="dcterms:W3CDTF">2026-07-17T06:43:48Z</dcterms:created>
  <dcterms:modified xsi:type="dcterms:W3CDTF">2026-07-18T09:06:28Z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2026-07-17T00:00:00Z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2026-07-17T00:00:00Z</vt:filetime>
  </property>
  <property fmtid="{D5CDD505-2E9C-101B-9397-08002B2CF9AE}" pid="6" name="Producer">
    <vt:lpwstr>3-Heights(TM) PDF Security Shell 4.8.25.2 (http://www.pdf-tools.com)</vt:lpwstr>
  </property>
</Properties>
</file>